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7" r:id="rId4"/>
    <p:sldId id="270" r:id="rId5"/>
    <p:sldId id="271" r:id="rId6"/>
    <p:sldId id="257" r:id="rId7"/>
    <p:sldId id="262" r:id="rId8"/>
    <p:sldId id="263" r:id="rId9"/>
    <p:sldId id="272" r:id="rId10"/>
    <p:sldId id="273" r:id="rId11"/>
    <p:sldId id="261" r:id="rId12"/>
    <p:sldId id="258" r:id="rId13"/>
    <p:sldId id="259" r:id="rId14"/>
    <p:sldId id="260" r:id="rId15"/>
    <p:sldId id="264" r:id="rId16"/>
    <p:sldId id="265" r:id="rId17"/>
    <p:sldId id="266"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file:///C:\Users\kancherp\Desktop\Boo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baseline="0"/>
              <a:t>Data size vs Response Time</a:t>
            </a:r>
          </a:p>
        </c:rich>
      </c:tx>
      <c:layout>
        <c:manualLayout>
          <c:xMode val="edge"/>
          <c:yMode val="edge"/>
          <c:x val="0.2149337381976591"/>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9764563456033021"/>
          <c:y val="0.13467592592592592"/>
          <c:w val="0.74652972726235312"/>
          <c:h val="0.72088764946048411"/>
        </c:manualLayout>
      </c:layout>
      <c:scatterChart>
        <c:scatterStyle val="lineMarker"/>
        <c:varyColors val="0"/>
        <c:ser>
          <c:idx val="1"/>
          <c:order val="1"/>
          <c:tx>
            <c:v>Size vs Time</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Sheet1!$B$5:$B$10</c:f>
              <c:numCache>
                <c:formatCode>General</c:formatCode>
                <c:ptCount val="6"/>
                <c:pt idx="0">
                  <c:v>25000</c:v>
                </c:pt>
                <c:pt idx="1">
                  <c:v>75000</c:v>
                </c:pt>
                <c:pt idx="2">
                  <c:v>125000</c:v>
                </c:pt>
                <c:pt idx="3">
                  <c:v>250000</c:v>
                </c:pt>
                <c:pt idx="4">
                  <c:v>500000</c:v>
                </c:pt>
                <c:pt idx="5">
                  <c:v>1000000</c:v>
                </c:pt>
              </c:numCache>
            </c:numRef>
          </c:xVal>
          <c:yVal>
            <c:numRef>
              <c:f>Sheet1!$F$5:$F$10</c:f>
              <c:numCache>
                <c:formatCode>General</c:formatCode>
                <c:ptCount val="6"/>
                <c:pt idx="0">
                  <c:v>158</c:v>
                </c:pt>
                <c:pt idx="1">
                  <c:v>422.33333333333331</c:v>
                </c:pt>
                <c:pt idx="2">
                  <c:v>732.33333333333337</c:v>
                </c:pt>
                <c:pt idx="3">
                  <c:v>1374.3333333333333</c:v>
                </c:pt>
                <c:pt idx="4">
                  <c:v>2822</c:v>
                </c:pt>
                <c:pt idx="5">
                  <c:v>5307.333333333333</c:v>
                </c:pt>
              </c:numCache>
            </c:numRef>
          </c:yVal>
          <c:smooth val="0"/>
          <c:extLst>
            <c:ext xmlns:c16="http://schemas.microsoft.com/office/drawing/2014/chart" uri="{C3380CC4-5D6E-409C-BE32-E72D297353CC}">
              <c16:uniqueId val="{00000000-EE85-4C8E-9FAE-418E9417F0AB}"/>
            </c:ext>
          </c:extLst>
        </c:ser>
        <c:dLbls>
          <c:showLegendKey val="0"/>
          <c:showVal val="0"/>
          <c:showCatName val="0"/>
          <c:showSerName val="0"/>
          <c:showPercent val="0"/>
          <c:showBubbleSize val="0"/>
        </c:dLbls>
        <c:axId val="426944264"/>
        <c:axId val="426942952"/>
        <c:extLst>
          <c:ext xmlns:c15="http://schemas.microsoft.com/office/drawing/2012/chart" uri="{02D57815-91ED-43cb-92C2-25804820EDAC}">
            <c15:filteredScatterSeries>
              <c15:ser>
                <c:idx val="0"/>
                <c:order val="0"/>
                <c:spPr>
                  <a:ln w="25400" cap="rnd">
                    <a:noFill/>
                    <a:round/>
                  </a:ln>
                  <a:effectLst/>
                </c:spPr>
                <c:marker>
                  <c:symbol val="circle"/>
                  <c:size val="5"/>
                  <c:spPr>
                    <a:solidFill>
                      <a:schemeClr val="accent1"/>
                    </a:solidFill>
                    <a:ln w="9525">
                      <a:solidFill>
                        <a:schemeClr val="accent1"/>
                      </a:solidFill>
                    </a:ln>
                    <a:effectLst/>
                  </c:spPr>
                </c:marker>
                <c:yVal>
                  <c:numRef>
                    <c:extLst>
                      <c:ext uri="{02D57815-91ED-43cb-92C2-25804820EDAC}">
                        <c15:formulaRef>
                          <c15:sqref>Sheet1!$F$5:$F$10</c15:sqref>
                        </c15:formulaRef>
                      </c:ext>
                    </c:extLst>
                    <c:numCache>
                      <c:formatCode>General</c:formatCode>
                      <c:ptCount val="6"/>
                      <c:pt idx="0">
                        <c:v>158</c:v>
                      </c:pt>
                      <c:pt idx="1">
                        <c:v>422.33333333333331</c:v>
                      </c:pt>
                      <c:pt idx="2">
                        <c:v>732.33333333333337</c:v>
                      </c:pt>
                      <c:pt idx="3">
                        <c:v>1374.3333333333333</c:v>
                      </c:pt>
                      <c:pt idx="4">
                        <c:v>2822</c:v>
                      </c:pt>
                      <c:pt idx="5">
                        <c:v>5307.333333333333</c:v>
                      </c:pt>
                    </c:numCache>
                  </c:numRef>
                </c:yVal>
                <c:smooth val="0"/>
                <c:extLst>
                  <c:ext xmlns:c16="http://schemas.microsoft.com/office/drawing/2014/chart" uri="{C3380CC4-5D6E-409C-BE32-E72D297353CC}">
                    <c16:uniqueId val="{00000001-EE85-4C8E-9FAE-418E9417F0AB}"/>
                  </c:ext>
                </c:extLst>
              </c15:ser>
            </c15:filteredScatterSeries>
          </c:ext>
        </c:extLst>
      </c:scatterChart>
      <c:valAx>
        <c:axId val="426944264"/>
        <c:scaling>
          <c:orientation val="minMax"/>
          <c:max val="1000000"/>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Data size(K)</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6942952"/>
        <c:crosses val="autoZero"/>
        <c:crossBetween val="midCat"/>
        <c:dispUnits>
          <c:builtInUnit val="thousands"/>
        </c:dispUnits>
      </c:valAx>
      <c:valAx>
        <c:axId val="426942952"/>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Response</a:t>
                </a:r>
                <a:r>
                  <a:rPr lang="en-US" baseline="0"/>
                  <a:t> Time (usec)</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694426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SELECT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v>Normal Scan</c:v>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Sheet1!$A$3:$A$7</c:f>
              <c:numCache>
                <c:formatCode>General</c:formatCode>
                <c:ptCount val="5"/>
                <c:pt idx="0">
                  <c:v>0.1</c:v>
                </c:pt>
                <c:pt idx="1">
                  <c:v>1</c:v>
                </c:pt>
                <c:pt idx="2">
                  <c:v>5</c:v>
                </c:pt>
                <c:pt idx="3">
                  <c:v>10</c:v>
                </c:pt>
                <c:pt idx="4">
                  <c:v>25</c:v>
                </c:pt>
              </c:numCache>
            </c:numRef>
          </c:xVal>
          <c:yVal>
            <c:numRef>
              <c:f>Sheet1!$B$3:$B$7</c:f>
              <c:numCache>
                <c:formatCode>General</c:formatCode>
                <c:ptCount val="5"/>
                <c:pt idx="0">
                  <c:v>5561</c:v>
                </c:pt>
                <c:pt idx="1">
                  <c:v>5680</c:v>
                </c:pt>
                <c:pt idx="2">
                  <c:v>6061</c:v>
                </c:pt>
                <c:pt idx="3">
                  <c:v>6361</c:v>
                </c:pt>
                <c:pt idx="4">
                  <c:v>8443</c:v>
                </c:pt>
              </c:numCache>
            </c:numRef>
          </c:yVal>
          <c:smooth val="0"/>
          <c:extLst>
            <c:ext xmlns:c16="http://schemas.microsoft.com/office/drawing/2014/chart" uri="{C3380CC4-5D6E-409C-BE32-E72D297353CC}">
              <c16:uniqueId val="{00000001-7976-41B8-AEA2-AFBCA30E71EA}"/>
            </c:ext>
          </c:extLst>
        </c:ser>
        <c:ser>
          <c:idx val="1"/>
          <c:order val="1"/>
          <c:tx>
            <c:v>Index Scan(B-Tree)</c:v>
          </c:tx>
          <c:spPr>
            <a:ln w="25400" cap="rnd">
              <a:noFill/>
              <a:round/>
            </a:ln>
            <a:effectLst/>
          </c:spPr>
          <c:marker>
            <c:symbol val="circle"/>
            <c:size val="5"/>
            <c:spPr>
              <a:solidFill>
                <a:schemeClr val="accent2"/>
              </a:solidFill>
              <a:ln w="9525">
                <a:solidFill>
                  <a:schemeClr val="accent2"/>
                </a:solidFill>
              </a:ln>
              <a:effectLst/>
            </c:spPr>
          </c:marker>
          <c:trendline>
            <c:spPr>
              <a:ln w="19050" cap="rnd">
                <a:solidFill>
                  <a:schemeClr val="accent2"/>
                </a:solidFill>
                <a:prstDash val="sysDot"/>
              </a:ln>
              <a:effectLst/>
            </c:spPr>
            <c:trendlineType val="linear"/>
            <c:dispRSqr val="0"/>
            <c:dispEq val="0"/>
          </c:trendline>
          <c:xVal>
            <c:numRef>
              <c:f>Sheet1!$A$3:$A$7</c:f>
              <c:numCache>
                <c:formatCode>General</c:formatCode>
                <c:ptCount val="5"/>
                <c:pt idx="0">
                  <c:v>0.1</c:v>
                </c:pt>
                <c:pt idx="1">
                  <c:v>1</c:v>
                </c:pt>
                <c:pt idx="2">
                  <c:v>5</c:v>
                </c:pt>
                <c:pt idx="3">
                  <c:v>10</c:v>
                </c:pt>
                <c:pt idx="4">
                  <c:v>25</c:v>
                </c:pt>
              </c:numCache>
            </c:numRef>
          </c:xVal>
          <c:yVal>
            <c:numRef>
              <c:f>Sheet1!$C$3:$C$7</c:f>
              <c:numCache>
                <c:formatCode>General</c:formatCode>
                <c:ptCount val="5"/>
                <c:pt idx="0">
                  <c:v>1242</c:v>
                </c:pt>
                <c:pt idx="1">
                  <c:v>1276</c:v>
                </c:pt>
                <c:pt idx="2">
                  <c:v>1292</c:v>
                </c:pt>
                <c:pt idx="3">
                  <c:v>1693</c:v>
                </c:pt>
                <c:pt idx="4">
                  <c:v>2396</c:v>
                </c:pt>
              </c:numCache>
            </c:numRef>
          </c:yVal>
          <c:smooth val="0"/>
          <c:extLst>
            <c:ext xmlns:c16="http://schemas.microsoft.com/office/drawing/2014/chart" uri="{C3380CC4-5D6E-409C-BE32-E72D297353CC}">
              <c16:uniqueId val="{00000003-7976-41B8-AEA2-AFBCA30E71EA}"/>
            </c:ext>
          </c:extLst>
        </c:ser>
        <c:ser>
          <c:idx val="2"/>
          <c:order val="2"/>
          <c:tx>
            <c:v>Index Scan(Sort)</c:v>
          </c:tx>
          <c:spPr>
            <a:ln w="25400" cap="rnd">
              <a:noFill/>
              <a:round/>
            </a:ln>
            <a:effectLst/>
          </c:spPr>
          <c:marker>
            <c:symbol val="circle"/>
            <c:size val="5"/>
            <c:spPr>
              <a:solidFill>
                <a:schemeClr val="accent3"/>
              </a:solidFill>
              <a:ln w="9525">
                <a:solidFill>
                  <a:schemeClr val="accent3"/>
                </a:solidFill>
              </a:ln>
              <a:effectLst/>
            </c:spPr>
          </c:marker>
          <c:trendline>
            <c:spPr>
              <a:ln w="19050" cap="rnd">
                <a:solidFill>
                  <a:srgbClr val="FF0000"/>
                </a:solidFill>
                <a:prstDash val="sysDot"/>
              </a:ln>
              <a:effectLst/>
            </c:spPr>
            <c:trendlineType val="linear"/>
            <c:dispRSqr val="0"/>
            <c:dispEq val="0"/>
          </c:trendline>
          <c:xVal>
            <c:numRef>
              <c:f>Sheet1!$A$3:$A$7</c:f>
              <c:numCache>
                <c:formatCode>General</c:formatCode>
                <c:ptCount val="5"/>
                <c:pt idx="0">
                  <c:v>0.1</c:v>
                </c:pt>
                <c:pt idx="1">
                  <c:v>1</c:v>
                </c:pt>
                <c:pt idx="2">
                  <c:v>5</c:v>
                </c:pt>
                <c:pt idx="3">
                  <c:v>10</c:v>
                </c:pt>
                <c:pt idx="4">
                  <c:v>25</c:v>
                </c:pt>
              </c:numCache>
            </c:numRef>
          </c:xVal>
          <c:yVal>
            <c:numRef>
              <c:f>Sheet1!$D$3:$D$7</c:f>
              <c:numCache>
                <c:formatCode>General</c:formatCode>
                <c:ptCount val="5"/>
                <c:pt idx="0">
                  <c:v>1053</c:v>
                </c:pt>
                <c:pt idx="1">
                  <c:v>1176</c:v>
                </c:pt>
                <c:pt idx="2">
                  <c:v>1242</c:v>
                </c:pt>
                <c:pt idx="3">
                  <c:v>1453</c:v>
                </c:pt>
                <c:pt idx="4">
                  <c:v>2182</c:v>
                </c:pt>
              </c:numCache>
            </c:numRef>
          </c:yVal>
          <c:smooth val="0"/>
          <c:extLst>
            <c:ext xmlns:c16="http://schemas.microsoft.com/office/drawing/2014/chart" uri="{C3380CC4-5D6E-409C-BE32-E72D297353CC}">
              <c16:uniqueId val="{00000005-7976-41B8-AEA2-AFBCA30E71EA}"/>
            </c:ext>
          </c:extLst>
        </c:ser>
        <c:dLbls>
          <c:showLegendKey val="0"/>
          <c:showVal val="0"/>
          <c:showCatName val="0"/>
          <c:showSerName val="0"/>
          <c:showPercent val="0"/>
          <c:showBubbleSize val="0"/>
        </c:dLbls>
        <c:axId val="313205008"/>
        <c:axId val="315722616"/>
      </c:scatterChart>
      <c:valAx>
        <c:axId val="3132050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Selectivity (%)</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5722616"/>
        <c:crosses val="autoZero"/>
        <c:crossBetween val="midCat"/>
      </c:valAx>
      <c:valAx>
        <c:axId val="31572261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Response</a:t>
                </a:r>
                <a:r>
                  <a:rPr lang="en-US" baseline="0"/>
                  <a:t> Time(usec)</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3205008"/>
        <c:crosses val="autoZero"/>
        <c:crossBetween val="midCat"/>
      </c:valAx>
      <c:spPr>
        <a:noFill/>
        <a:ln>
          <a:noFill/>
        </a:ln>
        <a:effectLst/>
      </c:spPr>
    </c:plotArea>
    <c:legend>
      <c:legendPos val="r"/>
      <c:legendEntry>
        <c:idx val="3"/>
        <c:delete val="1"/>
      </c:legendEntry>
      <c:legendEntry>
        <c:idx val="4"/>
        <c:delete val="1"/>
      </c:legendEntry>
      <c:legendEntry>
        <c:idx val="5"/>
        <c:delete val="1"/>
      </c:legendEntry>
      <c:layout>
        <c:manualLayout>
          <c:xMode val="edge"/>
          <c:yMode val="edge"/>
          <c:x val="0.66105473612198207"/>
          <c:y val="4.3473688285073451E-3"/>
          <c:w val="0.33894508590793748"/>
          <c:h val="0.246802411281307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FETCH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v>Normal Scan</c:v>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Sheet1!$A$3:$A$7</c:f>
              <c:numCache>
                <c:formatCode>General</c:formatCode>
                <c:ptCount val="5"/>
                <c:pt idx="0">
                  <c:v>0.1</c:v>
                </c:pt>
                <c:pt idx="1">
                  <c:v>1</c:v>
                </c:pt>
                <c:pt idx="2">
                  <c:v>5</c:v>
                </c:pt>
                <c:pt idx="3">
                  <c:v>10</c:v>
                </c:pt>
                <c:pt idx="4">
                  <c:v>25</c:v>
                </c:pt>
              </c:numCache>
            </c:numRef>
          </c:xVal>
          <c:yVal>
            <c:numRef>
              <c:f>Sheet1!$B$12:$B$16</c:f>
              <c:numCache>
                <c:formatCode>General</c:formatCode>
                <c:ptCount val="5"/>
                <c:pt idx="0">
                  <c:v>56</c:v>
                </c:pt>
                <c:pt idx="1">
                  <c:v>150</c:v>
                </c:pt>
                <c:pt idx="2">
                  <c:v>399</c:v>
                </c:pt>
                <c:pt idx="3">
                  <c:v>463</c:v>
                </c:pt>
                <c:pt idx="4">
                  <c:v>922</c:v>
                </c:pt>
              </c:numCache>
            </c:numRef>
          </c:yVal>
          <c:smooth val="0"/>
          <c:extLst>
            <c:ext xmlns:c16="http://schemas.microsoft.com/office/drawing/2014/chart" uri="{C3380CC4-5D6E-409C-BE32-E72D297353CC}">
              <c16:uniqueId val="{00000001-8064-45F4-A4C0-E2F729EACDB4}"/>
            </c:ext>
          </c:extLst>
        </c:ser>
        <c:ser>
          <c:idx val="1"/>
          <c:order val="1"/>
          <c:tx>
            <c:v>Index Scan</c:v>
          </c:tx>
          <c:spPr>
            <a:ln w="25400" cap="rnd">
              <a:noFill/>
              <a:round/>
            </a:ln>
            <a:effectLst/>
          </c:spPr>
          <c:marker>
            <c:symbol val="circle"/>
            <c:size val="5"/>
            <c:spPr>
              <a:solidFill>
                <a:schemeClr val="accent2"/>
              </a:solidFill>
              <a:ln w="9525">
                <a:solidFill>
                  <a:schemeClr val="accent2"/>
                </a:solidFill>
              </a:ln>
              <a:effectLst/>
            </c:spPr>
          </c:marker>
          <c:trendline>
            <c:spPr>
              <a:ln w="19050" cap="rnd">
                <a:solidFill>
                  <a:schemeClr val="accent2"/>
                </a:solidFill>
                <a:prstDash val="sysDot"/>
              </a:ln>
              <a:effectLst/>
            </c:spPr>
            <c:trendlineType val="linear"/>
            <c:dispRSqr val="0"/>
            <c:dispEq val="0"/>
          </c:trendline>
          <c:xVal>
            <c:numRef>
              <c:f>Sheet1!$A$12:$A$16</c:f>
              <c:numCache>
                <c:formatCode>General</c:formatCode>
                <c:ptCount val="5"/>
                <c:pt idx="0">
                  <c:v>0.1</c:v>
                </c:pt>
                <c:pt idx="1">
                  <c:v>1</c:v>
                </c:pt>
                <c:pt idx="2">
                  <c:v>5</c:v>
                </c:pt>
                <c:pt idx="3">
                  <c:v>10</c:v>
                </c:pt>
                <c:pt idx="4">
                  <c:v>25</c:v>
                </c:pt>
              </c:numCache>
            </c:numRef>
          </c:xVal>
          <c:yVal>
            <c:numRef>
              <c:f>Sheet1!$C$12:$C$16</c:f>
              <c:numCache>
                <c:formatCode>General</c:formatCode>
                <c:ptCount val="5"/>
                <c:pt idx="0">
                  <c:v>85</c:v>
                </c:pt>
                <c:pt idx="1">
                  <c:v>258</c:v>
                </c:pt>
                <c:pt idx="2">
                  <c:v>938</c:v>
                </c:pt>
                <c:pt idx="3">
                  <c:v>1823</c:v>
                </c:pt>
                <c:pt idx="4">
                  <c:v>3662</c:v>
                </c:pt>
              </c:numCache>
            </c:numRef>
          </c:yVal>
          <c:smooth val="0"/>
          <c:extLst>
            <c:ext xmlns:c16="http://schemas.microsoft.com/office/drawing/2014/chart" uri="{C3380CC4-5D6E-409C-BE32-E72D297353CC}">
              <c16:uniqueId val="{00000003-8064-45F4-A4C0-E2F729EACDB4}"/>
            </c:ext>
          </c:extLst>
        </c:ser>
        <c:ser>
          <c:idx val="2"/>
          <c:order val="2"/>
          <c:tx>
            <c:v>Index Scan(Sort)</c:v>
          </c:tx>
          <c:spPr>
            <a:ln w="25400" cap="rnd">
              <a:noFill/>
              <a:round/>
            </a:ln>
            <a:effectLst/>
          </c:spPr>
          <c:marker>
            <c:symbol val="circle"/>
            <c:size val="5"/>
            <c:spPr>
              <a:solidFill>
                <a:schemeClr val="accent3"/>
              </a:solidFill>
              <a:ln w="9525">
                <a:solidFill>
                  <a:schemeClr val="accent3"/>
                </a:solidFill>
              </a:ln>
              <a:effectLst/>
            </c:spPr>
          </c:marker>
          <c:trendline>
            <c:spPr>
              <a:ln w="19050" cap="rnd">
                <a:solidFill>
                  <a:schemeClr val="accent3"/>
                </a:solidFill>
                <a:prstDash val="sysDot"/>
              </a:ln>
              <a:effectLst/>
            </c:spPr>
            <c:trendlineType val="linear"/>
            <c:dispRSqr val="0"/>
            <c:dispEq val="0"/>
          </c:trendline>
          <c:xVal>
            <c:numRef>
              <c:f>Sheet1!$A$12:$A$16</c:f>
              <c:numCache>
                <c:formatCode>General</c:formatCode>
                <c:ptCount val="5"/>
                <c:pt idx="0">
                  <c:v>0.1</c:v>
                </c:pt>
                <c:pt idx="1">
                  <c:v>1</c:v>
                </c:pt>
                <c:pt idx="2">
                  <c:v>5</c:v>
                </c:pt>
                <c:pt idx="3">
                  <c:v>10</c:v>
                </c:pt>
                <c:pt idx="4">
                  <c:v>25</c:v>
                </c:pt>
              </c:numCache>
            </c:numRef>
          </c:xVal>
          <c:yVal>
            <c:numRef>
              <c:f>Sheet1!$D$12:$D$16</c:f>
              <c:numCache>
                <c:formatCode>General</c:formatCode>
                <c:ptCount val="5"/>
                <c:pt idx="0">
                  <c:v>4</c:v>
                </c:pt>
                <c:pt idx="1">
                  <c:v>33</c:v>
                </c:pt>
                <c:pt idx="2">
                  <c:v>158</c:v>
                </c:pt>
                <c:pt idx="3">
                  <c:v>385</c:v>
                </c:pt>
                <c:pt idx="4">
                  <c:v>1704</c:v>
                </c:pt>
              </c:numCache>
            </c:numRef>
          </c:yVal>
          <c:smooth val="0"/>
          <c:extLst>
            <c:ext xmlns:c16="http://schemas.microsoft.com/office/drawing/2014/chart" uri="{C3380CC4-5D6E-409C-BE32-E72D297353CC}">
              <c16:uniqueId val="{00000005-8064-45F4-A4C0-E2F729EACDB4}"/>
            </c:ext>
          </c:extLst>
        </c:ser>
        <c:dLbls>
          <c:showLegendKey val="0"/>
          <c:showVal val="0"/>
          <c:showCatName val="0"/>
          <c:showSerName val="0"/>
          <c:showPercent val="0"/>
          <c:showBubbleSize val="0"/>
        </c:dLbls>
        <c:axId val="315723400"/>
        <c:axId val="315720264"/>
      </c:scatterChart>
      <c:valAx>
        <c:axId val="3157234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Selectivity(%)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5720264"/>
        <c:crosses val="autoZero"/>
        <c:crossBetween val="midCat"/>
      </c:valAx>
      <c:valAx>
        <c:axId val="315720264"/>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Response Time(usec)</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5723400"/>
        <c:crosses val="autoZero"/>
        <c:crossBetween val="midCat"/>
      </c:valAx>
      <c:spPr>
        <a:noFill/>
        <a:ln>
          <a:noFill/>
        </a:ln>
        <a:effectLst/>
      </c:spPr>
    </c:plotArea>
    <c:legend>
      <c:legendPos val="r"/>
      <c:legendEntry>
        <c:idx val="3"/>
        <c:delete val="1"/>
      </c:legendEntry>
      <c:legendEntry>
        <c:idx val="4"/>
        <c:delete val="1"/>
      </c:legendEntry>
      <c:legendEntry>
        <c:idx val="5"/>
        <c:delete val="1"/>
      </c:legendEntry>
      <c:layout>
        <c:manualLayout>
          <c:xMode val="edge"/>
          <c:yMode val="edge"/>
          <c:x val="0.71903320357507183"/>
          <c:y val="1.4467045785943447E-2"/>
          <c:w val="0.28096679642492828"/>
          <c:h val="0.1800879347574726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100"/>
              <a:t>Percentage</a:t>
            </a:r>
            <a:r>
              <a:rPr lang="en-US" sz="1100" baseline="0"/>
              <a:t> of tuples vs Response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Nested Loop</c:v>
          </c:tx>
          <c:spPr>
            <a:solidFill>
              <a:schemeClr val="accent1"/>
            </a:solidFill>
            <a:ln>
              <a:noFill/>
            </a:ln>
            <a:effectLst/>
          </c:spPr>
          <c:invertIfNegative val="0"/>
          <c:cat>
            <c:numRef>
              <c:f>Sheet1!$B$25:$B$28</c:f>
              <c:numCache>
                <c:formatCode>General</c:formatCode>
                <c:ptCount val="4"/>
                <c:pt idx="0">
                  <c:v>0.5</c:v>
                </c:pt>
                <c:pt idx="1">
                  <c:v>1</c:v>
                </c:pt>
                <c:pt idx="2">
                  <c:v>5</c:v>
                </c:pt>
                <c:pt idx="3">
                  <c:v>10</c:v>
                </c:pt>
              </c:numCache>
            </c:numRef>
          </c:cat>
          <c:val>
            <c:numRef>
              <c:f>Sheet1!$C$31:$C$34</c:f>
              <c:numCache>
                <c:formatCode>General</c:formatCode>
                <c:ptCount val="4"/>
                <c:pt idx="0">
                  <c:v>10947.73</c:v>
                </c:pt>
                <c:pt idx="1">
                  <c:v>21296.187999999998</c:v>
                </c:pt>
                <c:pt idx="2">
                  <c:v>107237.969</c:v>
                </c:pt>
                <c:pt idx="3">
                  <c:v>212774.72899999999</c:v>
                </c:pt>
              </c:numCache>
            </c:numRef>
          </c:val>
          <c:extLst>
            <c:ext xmlns:c16="http://schemas.microsoft.com/office/drawing/2014/chart" uri="{C3380CC4-5D6E-409C-BE32-E72D297353CC}">
              <c16:uniqueId val="{00000000-B01B-4935-BD7D-AA5CC61139B6}"/>
            </c:ext>
          </c:extLst>
        </c:ser>
        <c:ser>
          <c:idx val="1"/>
          <c:order val="1"/>
          <c:tx>
            <c:v>HashJoin</c:v>
          </c:tx>
          <c:spPr>
            <a:solidFill>
              <a:schemeClr val="accent2"/>
            </a:solidFill>
            <a:ln>
              <a:noFill/>
            </a:ln>
            <a:effectLst/>
          </c:spPr>
          <c:invertIfNegative val="0"/>
          <c:cat>
            <c:numRef>
              <c:f>Sheet1!$B$25:$B$28</c:f>
              <c:numCache>
                <c:formatCode>General</c:formatCode>
                <c:ptCount val="4"/>
                <c:pt idx="0">
                  <c:v>0.5</c:v>
                </c:pt>
                <c:pt idx="1">
                  <c:v>1</c:v>
                </c:pt>
                <c:pt idx="2">
                  <c:v>5</c:v>
                </c:pt>
                <c:pt idx="3">
                  <c:v>10</c:v>
                </c:pt>
              </c:numCache>
            </c:numRef>
          </c:cat>
          <c:val>
            <c:numRef>
              <c:f>Sheet1!$D$31:$D$34</c:f>
              <c:numCache>
                <c:formatCode>General</c:formatCode>
                <c:ptCount val="4"/>
                <c:pt idx="0">
                  <c:v>69.736000000000004</c:v>
                </c:pt>
                <c:pt idx="1">
                  <c:v>88.372</c:v>
                </c:pt>
                <c:pt idx="2">
                  <c:v>372.93400000000003</c:v>
                </c:pt>
                <c:pt idx="3">
                  <c:v>491.83699999999999</c:v>
                </c:pt>
              </c:numCache>
            </c:numRef>
          </c:val>
          <c:extLst>
            <c:ext xmlns:c16="http://schemas.microsoft.com/office/drawing/2014/chart" uri="{C3380CC4-5D6E-409C-BE32-E72D297353CC}">
              <c16:uniqueId val="{00000001-B01B-4935-BD7D-AA5CC61139B6}"/>
            </c:ext>
          </c:extLst>
        </c:ser>
        <c:ser>
          <c:idx val="2"/>
          <c:order val="2"/>
          <c:tx>
            <c:v>Sort-merge</c:v>
          </c:tx>
          <c:spPr>
            <a:solidFill>
              <a:schemeClr val="accent3"/>
            </a:solidFill>
            <a:ln>
              <a:noFill/>
            </a:ln>
            <a:effectLst/>
          </c:spPr>
          <c:invertIfNegative val="0"/>
          <c:cat>
            <c:numRef>
              <c:f>Sheet1!$B$25:$B$28</c:f>
              <c:numCache>
                <c:formatCode>General</c:formatCode>
                <c:ptCount val="4"/>
                <c:pt idx="0">
                  <c:v>0.5</c:v>
                </c:pt>
                <c:pt idx="1">
                  <c:v>1</c:v>
                </c:pt>
                <c:pt idx="2">
                  <c:v>5</c:v>
                </c:pt>
                <c:pt idx="3">
                  <c:v>10</c:v>
                </c:pt>
              </c:numCache>
            </c:numRef>
          </c:cat>
          <c:val>
            <c:numRef>
              <c:f>Sheet1!$E$31:$E$34</c:f>
              <c:numCache>
                <c:formatCode>General</c:formatCode>
                <c:ptCount val="4"/>
                <c:pt idx="0">
                  <c:v>3.3</c:v>
                </c:pt>
                <c:pt idx="1">
                  <c:v>3.3</c:v>
                </c:pt>
                <c:pt idx="2">
                  <c:v>3.3</c:v>
                </c:pt>
                <c:pt idx="3">
                  <c:v>3.3</c:v>
                </c:pt>
              </c:numCache>
            </c:numRef>
          </c:val>
          <c:extLst>
            <c:ext xmlns:c16="http://schemas.microsoft.com/office/drawing/2014/chart" uri="{C3380CC4-5D6E-409C-BE32-E72D297353CC}">
              <c16:uniqueId val="{00000002-B01B-4935-BD7D-AA5CC61139B6}"/>
            </c:ext>
          </c:extLst>
        </c:ser>
        <c:dLbls>
          <c:showLegendKey val="0"/>
          <c:showVal val="0"/>
          <c:showCatName val="0"/>
          <c:showSerName val="0"/>
          <c:showPercent val="0"/>
          <c:showBubbleSize val="0"/>
        </c:dLbls>
        <c:gapWidth val="219"/>
        <c:overlap val="-27"/>
        <c:axId val="440262048"/>
        <c:axId val="440263360"/>
      </c:barChart>
      <c:catAx>
        <c:axId val="4402620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Percentage of tuples(%)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0263360"/>
        <c:crosses val="autoZero"/>
        <c:auto val="1"/>
        <c:lblAlgn val="ctr"/>
        <c:lblOffset val="100"/>
        <c:noMultiLvlLbl val="0"/>
      </c:catAx>
      <c:valAx>
        <c:axId val="440263360"/>
        <c:scaling>
          <c:logBase val="10"/>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Response</a:t>
                </a:r>
                <a:r>
                  <a:rPr lang="en-US" baseline="0"/>
                  <a:t> Time(msec)</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02620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2DD85-80DD-4D81-9AC8-EF9678DBDA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A92361-80E7-4871-B9D1-C031F98CF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3169C9-38AA-4F3B-9715-4C298E1D0A6D}"/>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5" name="Footer Placeholder 4">
            <a:extLst>
              <a:ext uri="{FF2B5EF4-FFF2-40B4-BE49-F238E27FC236}">
                <a16:creationId xmlns:a16="http://schemas.microsoft.com/office/drawing/2014/main" id="{511BA19A-339C-418D-9F84-B9F6FA04C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8DDA2-EAFE-47F4-9658-2FFE9E42F5F5}"/>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634363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ADF0-F7D8-4AB0-8E72-77F89E213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4611C8-6211-4D91-A46B-17021E49CD4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6CF2F7-FE11-4486-B747-C1F7BDE8BF4F}"/>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5" name="Footer Placeholder 4">
            <a:extLst>
              <a:ext uri="{FF2B5EF4-FFF2-40B4-BE49-F238E27FC236}">
                <a16:creationId xmlns:a16="http://schemas.microsoft.com/office/drawing/2014/main" id="{056BE4C5-52A3-4CBC-8636-ED6232B8B8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F5377-729F-4B75-AD30-9684642E6696}"/>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894114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F35E-C632-4105-B48E-648C17D2EC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7E4467-CE41-4626-A90B-9641D36DE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DB2F83-99DC-4F13-9CDE-4BD4B7F959AC}"/>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5" name="Footer Placeholder 4">
            <a:extLst>
              <a:ext uri="{FF2B5EF4-FFF2-40B4-BE49-F238E27FC236}">
                <a16:creationId xmlns:a16="http://schemas.microsoft.com/office/drawing/2014/main" id="{C2A1A915-EFD2-4E01-A7AC-EA8F23598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4B25F-F94E-4502-9186-C58B33E916FE}"/>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2399738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48BA5-9096-4390-8195-FBF0161691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F49B60-76B5-4E88-A8A4-50CB57E1963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EDA67F-2010-4480-A534-8BED3C63D15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F0EEB4-6F18-4AD1-8E79-F4917E2042A5}"/>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6" name="Footer Placeholder 5">
            <a:extLst>
              <a:ext uri="{FF2B5EF4-FFF2-40B4-BE49-F238E27FC236}">
                <a16:creationId xmlns:a16="http://schemas.microsoft.com/office/drawing/2014/main" id="{7C8802B0-0305-422D-A81F-76CEAD5F13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C7CDAA-663A-4BD5-80F6-39A70CFC9035}"/>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1106334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7C785-1098-420D-B6AD-74116D0B9D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D812A6-662C-4B8F-898D-F803B0EA1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90730A7-97E0-4C26-B67D-CDD299F178D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E0AE48-D475-42BA-906C-1C8EDE7A8F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4132C4F-B308-4D49-A016-A809934149E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1017CC-A27F-4790-9FD1-03028E1F9C16}"/>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8" name="Footer Placeholder 7">
            <a:extLst>
              <a:ext uri="{FF2B5EF4-FFF2-40B4-BE49-F238E27FC236}">
                <a16:creationId xmlns:a16="http://schemas.microsoft.com/office/drawing/2014/main" id="{D8E2BC76-BA66-4548-8929-8D68CABD1B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627F17-35E8-41E7-9983-A862C0EFA83F}"/>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3135537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7324-3C02-4C43-838E-76E99CF510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081B41-017B-4994-931F-C96AC6AA0DC0}"/>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4" name="Footer Placeholder 3">
            <a:extLst>
              <a:ext uri="{FF2B5EF4-FFF2-40B4-BE49-F238E27FC236}">
                <a16:creationId xmlns:a16="http://schemas.microsoft.com/office/drawing/2014/main" id="{B73D694A-C433-46CF-8A60-8881CD3030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051CBB-EC1E-41C8-BB38-5DD7BF3A6512}"/>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225356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8086C7-4FA7-4E60-888D-E0F849837C36}"/>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3" name="Footer Placeholder 2">
            <a:extLst>
              <a:ext uri="{FF2B5EF4-FFF2-40B4-BE49-F238E27FC236}">
                <a16:creationId xmlns:a16="http://schemas.microsoft.com/office/drawing/2014/main" id="{7B420F17-EFB0-4FCD-AD29-AC3D3B1C5B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AEC1A4-765D-4D22-897D-617F82269076}"/>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2652363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929B2-AF7C-4A3F-BEE5-596E69BDA2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E8E8E0-0175-4E20-828C-601BD222A3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A30AC5-AE91-4AFF-A7F8-1A78697EA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08C922-7D21-4FA8-BFF8-BB843439B576}"/>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6" name="Footer Placeholder 5">
            <a:extLst>
              <a:ext uri="{FF2B5EF4-FFF2-40B4-BE49-F238E27FC236}">
                <a16:creationId xmlns:a16="http://schemas.microsoft.com/office/drawing/2014/main" id="{2D74194E-19AE-49D7-B195-58E87044FB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FAF510-3ACB-48B5-A604-2724E0B82EEE}"/>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507187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A9E9-5B55-49E4-A5C4-F8E3A6B089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A14317-42AE-415E-916D-375FCCCD35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E12B6C-4194-4D4D-952F-44B040F7D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E6934B2-4A7E-4EF0-AABD-F344B1B6C783}"/>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6" name="Footer Placeholder 5">
            <a:extLst>
              <a:ext uri="{FF2B5EF4-FFF2-40B4-BE49-F238E27FC236}">
                <a16:creationId xmlns:a16="http://schemas.microsoft.com/office/drawing/2014/main" id="{E0E95C64-4178-4E7E-8270-950C99AD3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4DC0BB-DA02-4C04-8DFF-33CC85CB4AE3}"/>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1849461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37EB-F112-4827-BB20-D248A8E930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C9451B-7867-42A8-94BF-04AA79F85ED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2D5E3-F1A1-46B1-99B7-B337A85331E4}"/>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5" name="Footer Placeholder 4">
            <a:extLst>
              <a:ext uri="{FF2B5EF4-FFF2-40B4-BE49-F238E27FC236}">
                <a16:creationId xmlns:a16="http://schemas.microsoft.com/office/drawing/2014/main" id="{742BDA52-7047-4736-AEB8-3BCEA3E06E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C643A-B40C-4981-A5A0-C8A1257162E1}"/>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2062129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36D100-7142-4430-BDBA-82C4E41568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A97278-0482-4AB8-B481-0E033C18C14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787C9-B416-478B-9B6E-592E8CF6D0FA}"/>
              </a:ext>
            </a:extLst>
          </p:cNvPr>
          <p:cNvSpPr>
            <a:spLocks noGrp="1"/>
          </p:cNvSpPr>
          <p:nvPr>
            <p:ph type="dt" sz="half" idx="10"/>
          </p:nvPr>
        </p:nvSpPr>
        <p:spPr/>
        <p:txBody>
          <a:bodyPr/>
          <a:lstStyle/>
          <a:p>
            <a:fld id="{98BDFED7-AC56-4A49-94BC-AE484DE50BC1}" type="datetimeFigureOut">
              <a:rPr lang="en-US" smtClean="0"/>
              <a:t>12/10/2017</a:t>
            </a:fld>
            <a:endParaRPr lang="en-US"/>
          </a:p>
        </p:txBody>
      </p:sp>
      <p:sp>
        <p:nvSpPr>
          <p:cNvPr id="5" name="Footer Placeholder 4">
            <a:extLst>
              <a:ext uri="{FF2B5EF4-FFF2-40B4-BE49-F238E27FC236}">
                <a16:creationId xmlns:a16="http://schemas.microsoft.com/office/drawing/2014/main" id="{C8089EC1-E0EB-4949-9720-C43886892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1070FD-D55D-4711-B2C9-95C5B14F9F8B}"/>
              </a:ext>
            </a:extLst>
          </p:cNvPr>
          <p:cNvSpPr>
            <a:spLocks noGrp="1"/>
          </p:cNvSpPr>
          <p:nvPr>
            <p:ph type="sldNum" sz="quarter" idx="12"/>
          </p:nvPr>
        </p:nvSpPr>
        <p:spPr/>
        <p:txBody>
          <a:bodyPr/>
          <a:lstStyle/>
          <a:p>
            <a:fld id="{A67389A6-F86A-460A-9233-57500D617037}" type="slidenum">
              <a:rPr lang="en-US" smtClean="0"/>
              <a:t>‹#›</a:t>
            </a:fld>
            <a:endParaRPr lang="en-US"/>
          </a:p>
        </p:txBody>
      </p:sp>
    </p:spTree>
    <p:extLst>
      <p:ext uri="{BB962C8B-B14F-4D97-AF65-F5344CB8AC3E}">
        <p14:creationId xmlns:p14="http://schemas.microsoft.com/office/powerpoint/2010/main" val="2064827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8E4025-E042-428E-94CD-FFACA15FA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6592AA-936F-4E5C-8228-04FA4C55AB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A829CF-0C21-4668-8AD6-1AA9E89B61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DFED7-AC56-4A49-94BC-AE484DE50BC1}" type="datetimeFigureOut">
              <a:rPr lang="en-US" smtClean="0"/>
              <a:t>12/10/2017</a:t>
            </a:fld>
            <a:endParaRPr lang="en-US"/>
          </a:p>
        </p:txBody>
      </p:sp>
      <p:sp>
        <p:nvSpPr>
          <p:cNvPr id="5" name="Footer Placeholder 4">
            <a:extLst>
              <a:ext uri="{FF2B5EF4-FFF2-40B4-BE49-F238E27FC236}">
                <a16:creationId xmlns:a16="http://schemas.microsoft.com/office/drawing/2014/main" id="{455439E8-889A-4DA4-843E-3CB2633DA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A3B0D3-CD3F-46D7-B9A9-29A0A8A26B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389A6-F86A-460A-9233-57500D617037}" type="slidenum">
              <a:rPr lang="en-US" smtClean="0"/>
              <a:t>‹#›</a:t>
            </a:fld>
            <a:endParaRPr lang="en-US"/>
          </a:p>
        </p:txBody>
      </p:sp>
    </p:spTree>
    <p:extLst>
      <p:ext uri="{BB962C8B-B14F-4D97-AF65-F5344CB8AC3E}">
        <p14:creationId xmlns:p14="http://schemas.microsoft.com/office/powerpoint/2010/main" val="3303087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61A1-3ECC-439F-B43A-2E6D0AD4316B}"/>
              </a:ext>
            </a:extLst>
          </p:cNvPr>
          <p:cNvSpPr>
            <a:spLocks noGrp="1"/>
          </p:cNvSpPr>
          <p:nvPr>
            <p:ph type="ctrTitle"/>
          </p:nvPr>
        </p:nvSpPr>
        <p:spPr/>
        <p:txBody>
          <a:bodyPr>
            <a:normAutofit/>
          </a:bodyPr>
          <a:lstStyle/>
          <a:p>
            <a:r>
              <a:rPr lang="en-US" sz="4800" b="1" dirty="0">
                <a:latin typeface="Times New Roman" panose="02020603050405020304" pitchFamily="18" charset="0"/>
                <a:cs typeface="Times New Roman" panose="02020603050405020304" pitchFamily="18" charset="0"/>
              </a:rPr>
              <a:t>Main Memory Column-store</a:t>
            </a:r>
            <a:br>
              <a:rPr lang="en-US" sz="48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CS 165 (Data Systems)</a:t>
            </a:r>
          </a:p>
        </p:txBody>
      </p:sp>
      <p:sp>
        <p:nvSpPr>
          <p:cNvPr id="3" name="Subtitle 2">
            <a:extLst>
              <a:ext uri="{FF2B5EF4-FFF2-40B4-BE49-F238E27FC236}">
                <a16:creationId xmlns:a16="http://schemas.microsoft.com/office/drawing/2014/main" id="{6F9BB92C-3E1E-4EF3-A1A3-8A7DF4ED3B10}"/>
              </a:ext>
            </a:extLst>
          </p:cNvPr>
          <p:cNvSpPr>
            <a:spLocks noGrp="1"/>
          </p:cNvSpPr>
          <p:nvPr>
            <p:ph type="subTitle" idx="1"/>
          </p:nvPr>
        </p:nvSpPr>
        <p:spPr/>
        <p:txBody>
          <a:bodyPr/>
          <a:lstStyle/>
          <a:p>
            <a:pPr algn="r"/>
            <a:r>
              <a:rPr lang="en-US" dirty="0">
                <a:latin typeface="Times New Roman" panose="02020603050405020304" pitchFamily="18" charset="0"/>
                <a:cs typeface="Times New Roman" panose="02020603050405020304" pitchFamily="18" charset="0"/>
              </a:rPr>
              <a:t>Pavan Kumar Kancherlapalli</a:t>
            </a:r>
          </a:p>
        </p:txBody>
      </p:sp>
    </p:spTree>
    <p:extLst>
      <p:ext uri="{BB962C8B-B14F-4D97-AF65-F5344CB8AC3E}">
        <p14:creationId xmlns:p14="http://schemas.microsoft.com/office/powerpoint/2010/main" val="933232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A9BF4-51C5-4680-8602-917C28F9EEDE}"/>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Storage Layout</a:t>
            </a:r>
          </a:p>
        </p:txBody>
      </p:sp>
      <p:sp>
        <p:nvSpPr>
          <p:cNvPr id="3" name="Content Placeholder 2">
            <a:extLst>
              <a:ext uri="{FF2B5EF4-FFF2-40B4-BE49-F238E27FC236}">
                <a16:creationId xmlns:a16="http://schemas.microsoft.com/office/drawing/2014/main" id="{9F0E7ED7-F83E-4622-BAE0-C3FBD7C57954}"/>
              </a:ext>
            </a:extLst>
          </p:cNvPr>
          <p:cNvSpPr>
            <a:spLocks noGrp="1"/>
          </p:cNvSpPr>
          <p:nvPr>
            <p:ph idx="1"/>
          </p:nvPr>
        </p:nvSpPr>
        <p:spPr>
          <a:xfrm>
            <a:off x="838200" y="1444486"/>
            <a:ext cx="10515600" cy="4943061"/>
          </a:xfrm>
        </p:spPr>
        <p:txBody>
          <a:bodyPr>
            <a:normAutofit/>
          </a:bodyPr>
          <a:lstStyle/>
          <a:p>
            <a:r>
              <a:rPr lang="en-US" sz="2400" dirty="0">
                <a:latin typeface="Times New Roman" panose="02020603050405020304" pitchFamily="18" charset="0"/>
                <a:cs typeface="Times New Roman" panose="02020603050405020304" pitchFamily="18" charset="0"/>
              </a:rPr>
              <a:t>Database is a folder in the current working directory with name “db1”</a:t>
            </a:r>
          </a:p>
          <a:p>
            <a:r>
              <a:rPr lang="en-US" sz="2400" dirty="0">
                <a:latin typeface="Times New Roman" panose="02020603050405020304" pitchFamily="18" charset="0"/>
                <a:cs typeface="Times New Roman" panose="02020603050405020304" pitchFamily="18" charset="0"/>
              </a:rPr>
              <a:t>Database catalog is a file at the same level that holds the metadata for the whole database</a:t>
            </a:r>
          </a:p>
          <a:p>
            <a:r>
              <a:rPr lang="en-US" sz="2400" dirty="0">
                <a:latin typeface="Times New Roman" panose="02020603050405020304" pitchFamily="18" charset="0"/>
                <a:cs typeface="Times New Roman" panose="02020603050405020304" pitchFamily="18" charset="0"/>
              </a:rPr>
              <a:t>Each table is  a folder inside “db1”</a:t>
            </a:r>
          </a:p>
          <a:p>
            <a:r>
              <a:rPr lang="en-US" sz="2400" dirty="0">
                <a:latin typeface="Times New Roman" panose="02020603050405020304" pitchFamily="18" charset="0"/>
                <a:cs typeface="Times New Roman" panose="02020603050405020304" pitchFamily="18" charset="0"/>
              </a:rPr>
              <a:t>Each column is a binary file inside the respective table folder</a:t>
            </a:r>
          </a:p>
          <a:p>
            <a:r>
              <a:rPr lang="en-US" sz="2400" dirty="0">
                <a:latin typeface="Times New Roman" panose="02020603050405020304" pitchFamily="18" charset="0"/>
                <a:cs typeface="Times New Roman" panose="02020603050405020304" pitchFamily="18" charset="0"/>
              </a:rPr>
              <a:t>Column index is also binary file at the same place.</a:t>
            </a:r>
          </a:p>
          <a:p>
            <a:pPr lvl="1"/>
            <a:r>
              <a:rPr lang="en-US" sz="2000" dirty="0">
                <a:latin typeface="Times New Roman" panose="02020603050405020304" pitchFamily="18" charset="0"/>
                <a:cs typeface="Times New Roman" panose="02020603050405020304" pitchFamily="18" charset="0"/>
              </a:rPr>
              <a:t>Index files are named with column name suffixed with type of index</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On start up, server looks at catalog file and accordingly reads the database files to read the data into memory.</a:t>
            </a:r>
          </a:p>
          <a:p>
            <a:r>
              <a:rPr lang="en-US" sz="2400" dirty="0">
                <a:latin typeface="Times New Roman" panose="02020603050405020304" pitchFamily="18" charset="0"/>
                <a:cs typeface="Times New Roman" panose="02020603050405020304" pitchFamily="18" charset="0"/>
              </a:rPr>
              <a:t>The catalog manager is populated with base column pointers.</a:t>
            </a:r>
          </a:p>
        </p:txBody>
      </p:sp>
    </p:spTree>
    <p:extLst>
      <p:ext uri="{BB962C8B-B14F-4D97-AF65-F5344CB8AC3E}">
        <p14:creationId xmlns:p14="http://schemas.microsoft.com/office/powerpoint/2010/main" val="1161458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1395-70D3-4F7B-BF14-184043C7E256}"/>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Architecture</a:t>
            </a:r>
          </a:p>
        </p:txBody>
      </p:sp>
      <p:pic>
        <p:nvPicPr>
          <p:cNvPr id="11" name="Content Placeholder 10">
            <a:extLst>
              <a:ext uri="{FF2B5EF4-FFF2-40B4-BE49-F238E27FC236}">
                <a16:creationId xmlns:a16="http://schemas.microsoft.com/office/drawing/2014/main" id="{3B771CB0-8E96-41FB-AF0B-1E766A9247F6}"/>
              </a:ext>
            </a:extLst>
          </p:cNvPr>
          <p:cNvPicPr>
            <a:picLocks noGrp="1" noChangeAspect="1"/>
          </p:cNvPicPr>
          <p:nvPr>
            <p:ph idx="1"/>
          </p:nvPr>
        </p:nvPicPr>
        <p:blipFill>
          <a:blip r:embed="rId2"/>
          <a:stretch>
            <a:fillRect/>
          </a:stretch>
        </p:blipFill>
        <p:spPr>
          <a:xfrm>
            <a:off x="2574388" y="1848150"/>
            <a:ext cx="6518912" cy="4644725"/>
          </a:xfrm>
          <a:prstGeom prst="rect">
            <a:avLst/>
          </a:prstGeom>
        </p:spPr>
      </p:pic>
    </p:spTree>
    <p:extLst>
      <p:ext uri="{BB962C8B-B14F-4D97-AF65-F5344CB8AC3E}">
        <p14:creationId xmlns:p14="http://schemas.microsoft.com/office/powerpoint/2010/main" val="2082905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95DE-6D8B-4FF8-9E5B-854393001DB1}"/>
              </a:ext>
            </a:extLst>
          </p:cNvPr>
          <p:cNvSpPr>
            <a:spLocks noGrp="1"/>
          </p:cNvSpPr>
          <p:nvPr>
            <p:ph type="title"/>
          </p:nvPr>
        </p:nvSpPr>
        <p:spPr>
          <a:xfrm>
            <a:off x="838200" y="365126"/>
            <a:ext cx="10515600" cy="814318"/>
          </a:xfrm>
        </p:spPr>
        <p:txBody>
          <a:bodyPr>
            <a:normAutofit/>
          </a:bodyPr>
          <a:lstStyle/>
          <a:p>
            <a:pPr algn="ctr"/>
            <a:r>
              <a:rPr lang="en-US" sz="3600" dirty="0">
                <a:latin typeface="Times New Roman" panose="02020603050405020304" pitchFamily="18" charset="0"/>
                <a:cs typeface="Times New Roman" panose="02020603050405020304" pitchFamily="18" charset="0"/>
              </a:rPr>
              <a:t>Variable Pool and Basic SQL Commands</a:t>
            </a:r>
          </a:p>
        </p:txBody>
      </p:sp>
      <p:sp>
        <p:nvSpPr>
          <p:cNvPr id="3" name="Content Placeholder 2">
            <a:extLst>
              <a:ext uri="{FF2B5EF4-FFF2-40B4-BE49-F238E27FC236}">
                <a16:creationId xmlns:a16="http://schemas.microsoft.com/office/drawing/2014/main" id="{1D5CE2A3-B2FD-4762-9C01-36C37FBB7F7D}"/>
              </a:ext>
            </a:extLst>
          </p:cNvPr>
          <p:cNvSpPr>
            <a:spLocks noGrp="1"/>
          </p:cNvSpPr>
          <p:nvPr>
            <p:ph idx="1"/>
          </p:nvPr>
        </p:nvSpPr>
        <p:spPr>
          <a:xfrm>
            <a:off x="838200" y="1364975"/>
            <a:ext cx="10515600" cy="4996069"/>
          </a:xfrm>
        </p:spPr>
        <p:txBody>
          <a:bodyPr>
            <a:noAutofit/>
          </a:bodyPr>
          <a:lstStyle/>
          <a:p>
            <a:r>
              <a:rPr lang="en-US" sz="2400" dirty="0">
                <a:latin typeface="Times New Roman" panose="02020603050405020304" pitchFamily="18" charset="0"/>
                <a:cs typeface="Times New Roman" panose="02020603050405020304" pitchFamily="18" charset="0"/>
              </a:rPr>
              <a:t>There are three types of variables that are stored in variable pool along with base column pointers that catalog manager maintains during life time of client.</a:t>
            </a:r>
          </a:p>
          <a:p>
            <a:pPr lvl="1"/>
            <a:r>
              <a:rPr lang="en-US" sz="2000" dirty="0">
                <a:latin typeface="Times New Roman" panose="02020603050405020304" pitchFamily="18" charset="0"/>
                <a:cs typeface="Times New Roman" panose="02020603050405020304" pitchFamily="18" charset="0"/>
              </a:rPr>
              <a:t>Result – vector of data that results from fetch or any aggregate operators such as add, sub</a:t>
            </a:r>
          </a:p>
          <a:p>
            <a:pPr lvl="1"/>
            <a:r>
              <a:rPr lang="en-US" sz="2000" dirty="0" err="1">
                <a:latin typeface="Times New Roman" panose="02020603050405020304" pitchFamily="18" charset="0"/>
                <a:cs typeface="Times New Roman" panose="02020603050405020304" pitchFamily="18" charset="0"/>
              </a:rPr>
              <a:t>PositionVector</a:t>
            </a:r>
            <a:r>
              <a:rPr lang="en-US" sz="2000" dirty="0">
                <a:latin typeface="Times New Roman" panose="02020603050405020304" pitchFamily="18" charset="0"/>
                <a:cs typeface="Times New Roman" panose="02020603050405020304" pitchFamily="18" charset="0"/>
              </a:rPr>
              <a:t> – vector of position ids that qualify select or join</a:t>
            </a:r>
          </a:p>
          <a:p>
            <a:pPr lvl="1"/>
            <a:r>
              <a:rPr lang="en-US" sz="2000" dirty="0">
                <a:latin typeface="Times New Roman" panose="02020603050405020304" pitchFamily="18" charset="0"/>
                <a:cs typeface="Times New Roman" panose="02020603050405020304" pitchFamily="18" charset="0"/>
              </a:rPr>
              <a:t>Scalar – single value resulting from operators such as min, max, sum</a:t>
            </a:r>
          </a:p>
          <a:p>
            <a:r>
              <a:rPr lang="en-US" sz="2400" dirty="0">
                <a:latin typeface="Times New Roman" panose="02020603050405020304" pitchFamily="18" charset="0"/>
                <a:cs typeface="Times New Roman" panose="02020603050405020304" pitchFamily="18" charset="0"/>
              </a:rPr>
              <a:t>SQL commands handled are</a:t>
            </a:r>
          </a:p>
          <a:p>
            <a:pPr lvl="1"/>
            <a:r>
              <a:rPr lang="en-US" dirty="0">
                <a:latin typeface="Times New Roman" panose="02020603050405020304" pitchFamily="18" charset="0"/>
                <a:cs typeface="Times New Roman" panose="02020603050405020304" pitchFamily="18" charset="0"/>
              </a:rPr>
              <a:t>Create , Load, Select, Fetch, Print, Join, </a:t>
            </a:r>
            <a:r>
              <a:rPr lang="en-US" dirty="0" err="1">
                <a:latin typeface="Times New Roman" panose="02020603050405020304" pitchFamily="18" charset="0"/>
                <a:cs typeface="Times New Roman" panose="02020603050405020304" pitchFamily="18" charset="0"/>
              </a:rPr>
              <a:t>Avg</a:t>
            </a:r>
            <a:r>
              <a:rPr lang="en-US" dirty="0">
                <a:latin typeface="Times New Roman" panose="02020603050405020304" pitchFamily="18" charset="0"/>
                <a:cs typeface="Times New Roman" panose="02020603050405020304" pitchFamily="18" charset="0"/>
              </a:rPr>
              <a:t>, Min, Max, Add, Sub, Sum</a:t>
            </a:r>
          </a:p>
          <a:p>
            <a:r>
              <a:rPr lang="en-US" sz="2400" dirty="0">
                <a:latin typeface="Times New Roman" panose="02020603050405020304" pitchFamily="18" charset="0"/>
                <a:cs typeface="Times New Roman" panose="02020603050405020304" pitchFamily="18" charset="0"/>
              </a:rPr>
              <a:t>All commands are processed in one pass except the load and print</a:t>
            </a:r>
          </a:p>
          <a:p>
            <a:pPr lvl="1"/>
            <a:r>
              <a:rPr lang="en-US" sz="2000" dirty="0">
                <a:latin typeface="Times New Roman" panose="02020603050405020304" pitchFamily="18" charset="0"/>
                <a:cs typeface="Times New Roman" panose="02020603050405020304" pitchFamily="18" charset="0"/>
              </a:rPr>
              <a:t>Load command – reads the file on client side and passes the data in chunks to server as several load commands.</a:t>
            </a:r>
          </a:p>
          <a:p>
            <a:pPr lvl="1"/>
            <a:r>
              <a:rPr lang="en-US" sz="2000" dirty="0">
                <a:latin typeface="Times New Roman" panose="02020603050405020304" pitchFamily="18" charset="0"/>
                <a:cs typeface="Times New Roman" panose="02020603050405020304" pitchFamily="18" charset="0"/>
              </a:rPr>
              <a:t>Print – server breaks the data that it needs to client into chunks </a:t>
            </a:r>
          </a:p>
          <a:p>
            <a:r>
              <a:rPr lang="en-US" sz="2400" dirty="0">
                <a:latin typeface="Times New Roman" panose="02020603050405020304" pitchFamily="18" charset="0"/>
                <a:cs typeface="Times New Roman" panose="02020603050405020304" pitchFamily="18" charset="0"/>
              </a:rPr>
              <a:t>Data Types handled are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long, double</a:t>
            </a:r>
          </a:p>
        </p:txBody>
      </p:sp>
    </p:spTree>
    <p:extLst>
      <p:ext uri="{BB962C8B-B14F-4D97-AF65-F5344CB8AC3E}">
        <p14:creationId xmlns:p14="http://schemas.microsoft.com/office/powerpoint/2010/main" val="2945942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89E6-8634-4D70-9F3F-043B5DFCBBDB}"/>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Metadata file for Database</a:t>
            </a:r>
          </a:p>
        </p:txBody>
      </p:sp>
      <p:sp>
        <p:nvSpPr>
          <p:cNvPr id="3" name="Content Placeholder 2">
            <a:extLst>
              <a:ext uri="{FF2B5EF4-FFF2-40B4-BE49-F238E27FC236}">
                <a16:creationId xmlns:a16="http://schemas.microsoft.com/office/drawing/2014/main" id="{AB63982E-DF2D-467C-8AE7-10323714C756}"/>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Structure of the file is flat</a:t>
            </a:r>
          </a:p>
          <a:p>
            <a:endParaRPr lang="en-US" dirty="0"/>
          </a:p>
        </p:txBody>
      </p:sp>
      <p:pic>
        <p:nvPicPr>
          <p:cNvPr id="4" name="Picture 3">
            <a:extLst>
              <a:ext uri="{FF2B5EF4-FFF2-40B4-BE49-F238E27FC236}">
                <a16:creationId xmlns:a16="http://schemas.microsoft.com/office/drawing/2014/main" id="{004734FB-0EF6-4EFB-8F9F-FDCE68CA0794}"/>
              </a:ext>
            </a:extLst>
          </p:cNvPr>
          <p:cNvPicPr>
            <a:picLocks noChangeAspect="1"/>
          </p:cNvPicPr>
          <p:nvPr/>
        </p:nvPicPr>
        <p:blipFill>
          <a:blip r:embed="rId2"/>
          <a:stretch>
            <a:fillRect/>
          </a:stretch>
        </p:blipFill>
        <p:spPr>
          <a:xfrm>
            <a:off x="2091565" y="2562432"/>
            <a:ext cx="4695825" cy="2581275"/>
          </a:xfrm>
          <a:prstGeom prst="rect">
            <a:avLst/>
          </a:prstGeom>
        </p:spPr>
      </p:pic>
    </p:spTree>
    <p:extLst>
      <p:ext uri="{BB962C8B-B14F-4D97-AF65-F5344CB8AC3E}">
        <p14:creationId xmlns:p14="http://schemas.microsoft.com/office/powerpoint/2010/main" val="3945277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2E45-7D51-4FFF-83E2-2A9125798DC9}"/>
              </a:ext>
            </a:extLst>
          </p:cNvPr>
          <p:cNvSpPr>
            <a:spLocks noGrp="1"/>
          </p:cNvSpPr>
          <p:nvPr>
            <p:ph type="title"/>
          </p:nvPr>
        </p:nvSpPr>
        <p:spPr>
          <a:xfrm>
            <a:off x="838200" y="365125"/>
            <a:ext cx="10515600" cy="903203"/>
          </a:xfrm>
        </p:spPr>
        <p:txBody>
          <a:bodyPr>
            <a:normAutofit/>
          </a:bodyPr>
          <a:lstStyle/>
          <a:p>
            <a:pPr algn="ctr"/>
            <a:r>
              <a:rPr lang="en-US" sz="3600" dirty="0">
                <a:latin typeface="Times New Roman" panose="02020603050405020304" pitchFamily="18" charset="0"/>
                <a:cs typeface="Times New Roman" panose="02020603050405020304" pitchFamily="18" charset="0"/>
              </a:rPr>
              <a:t>Data size vs Response Time</a:t>
            </a:r>
          </a:p>
        </p:txBody>
      </p:sp>
      <p:sp>
        <p:nvSpPr>
          <p:cNvPr id="3" name="Content Placeholder 2">
            <a:extLst>
              <a:ext uri="{FF2B5EF4-FFF2-40B4-BE49-F238E27FC236}">
                <a16:creationId xmlns:a16="http://schemas.microsoft.com/office/drawing/2014/main" id="{2FDAD80F-C9C8-4B86-A119-6A60CB3E1666}"/>
              </a:ext>
            </a:extLst>
          </p:cNvPr>
          <p:cNvSpPr>
            <a:spLocks noGrp="1"/>
          </p:cNvSpPr>
          <p:nvPr>
            <p:ph idx="1"/>
          </p:nvPr>
        </p:nvSpPr>
        <p:spPr>
          <a:xfrm>
            <a:off x="703385" y="1547446"/>
            <a:ext cx="10650415" cy="4671720"/>
          </a:xfrm>
        </p:spPr>
        <p:txBody>
          <a:bodyPr>
            <a:normAutofit/>
          </a:bodyPr>
          <a:lstStyle/>
          <a:p>
            <a:r>
              <a:rPr lang="en-US" sz="2400" dirty="0">
                <a:latin typeface="Times New Roman" panose="02020603050405020304" pitchFamily="18" charset="0"/>
                <a:cs typeface="Times New Roman" panose="02020603050405020304" pitchFamily="18" charset="0"/>
              </a:rPr>
              <a:t>Data sets of various sizes were generated from the given 1M data set</a:t>
            </a:r>
          </a:p>
          <a:p>
            <a:r>
              <a:rPr lang="en-US" sz="2400" dirty="0">
                <a:latin typeface="Times New Roman" panose="02020603050405020304" pitchFamily="18" charset="0"/>
                <a:cs typeface="Times New Roman" panose="02020603050405020304" pitchFamily="18" charset="0"/>
              </a:rPr>
              <a:t>Scan was run on these different data sets  fixing the selectivity to 5%</a:t>
            </a:r>
          </a:p>
        </p:txBody>
      </p:sp>
      <p:graphicFrame>
        <p:nvGraphicFramePr>
          <p:cNvPr id="5" name="Chart 4">
            <a:extLst>
              <a:ext uri="{FF2B5EF4-FFF2-40B4-BE49-F238E27FC236}">
                <a16:creationId xmlns:a16="http://schemas.microsoft.com/office/drawing/2014/main" id="{B525BE0B-A5D7-44E0-A904-E6E34F5EE639}"/>
              </a:ext>
            </a:extLst>
          </p:cNvPr>
          <p:cNvGraphicFramePr/>
          <p:nvPr>
            <p:extLst>
              <p:ext uri="{D42A27DB-BD31-4B8C-83A1-F6EECF244321}">
                <p14:modId xmlns:p14="http://schemas.microsoft.com/office/powerpoint/2010/main" val="2192631023"/>
              </p:ext>
            </p:extLst>
          </p:nvPr>
        </p:nvGraphicFramePr>
        <p:xfrm>
          <a:off x="4390072" y="2630329"/>
          <a:ext cx="4658825" cy="27118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68588836-A1DE-4633-811B-57EE7C85846F}"/>
              </a:ext>
            </a:extLst>
          </p:cNvPr>
          <p:cNvGraphicFramePr>
            <a:graphicFrameLocks noGrp="1"/>
          </p:cNvGraphicFramePr>
          <p:nvPr>
            <p:extLst>
              <p:ext uri="{D42A27DB-BD31-4B8C-83A1-F6EECF244321}">
                <p14:modId xmlns:p14="http://schemas.microsoft.com/office/powerpoint/2010/main" val="2263240738"/>
              </p:ext>
            </p:extLst>
          </p:nvPr>
        </p:nvGraphicFramePr>
        <p:xfrm>
          <a:off x="1459303" y="3093269"/>
          <a:ext cx="2174851" cy="1763896"/>
        </p:xfrm>
        <a:graphic>
          <a:graphicData uri="http://schemas.openxmlformats.org/drawingml/2006/table">
            <a:tbl>
              <a:tblPr firstRow="1" firstCol="1" bandRow="1"/>
              <a:tblGrid>
                <a:gridCol w="959038">
                  <a:extLst>
                    <a:ext uri="{9D8B030D-6E8A-4147-A177-3AD203B41FA5}">
                      <a16:colId xmlns:a16="http://schemas.microsoft.com/office/drawing/2014/main" val="3044955891"/>
                    </a:ext>
                  </a:extLst>
                </a:gridCol>
                <a:gridCol w="1215813">
                  <a:extLst>
                    <a:ext uri="{9D8B030D-6E8A-4147-A177-3AD203B41FA5}">
                      <a16:colId xmlns:a16="http://schemas.microsoft.com/office/drawing/2014/main" val="3922844612"/>
                    </a:ext>
                  </a:extLst>
                </a:gridCol>
              </a:tblGrid>
              <a:tr h="433570">
                <a:tc>
                  <a:txBody>
                    <a:bodyPr/>
                    <a:lstStyle/>
                    <a:p>
                      <a:pPr marL="0" marR="0">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Data size (K)</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Response Time(usec)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6063516"/>
                  </a:ext>
                </a:extLst>
              </a:tr>
              <a:tr h="221721">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158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0366451"/>
                  </a:ext>
                </a:extLst>
              </a:tr>
              <a:tr h="221721">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75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422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9407571"/>
                  </a:ext>
                </a:extLst>
              </a:tr>
              <a:tr h="221721">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125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733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7210167"/>
                  </a:ext>
                </a:extLst>
              </a:tr>
              <a:tr h="221721">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250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1375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2231713"/>
                  </a:ext>
                </a:extLst>
              </a:tr>
              <a:tr h="221721">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500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2822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858434"/>
                  </a:ext>
                </a:extLst>
              </a:tr>
              <a:tr h="221721">
                <a:tc>
                  <a:txBody>
                    <a:bodyPr/>
                    <a:lstStyle/>
                    <a:p>
                      <a:pPr marL="0" marR="0">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1000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5308</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2655273"/>
                  </a:ext>
                </a:extLst>
              </a:tr>
            </a:tbl>
          </a:graphicData>
        </a:graphic>
      </p:graphicFrame>
    </p:spTree>
    <p:extLst>
      <p:ext uri="{BB962C8B-B14F-4D97-AF65-F5344CB8AC3E}">
        <p14:creationId xmlns:p14="http://schemas.microsoft.com/office/powerpoint/2010/main" val="1188528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B040-F334-4E71-B556-F5EF919A82B5}"/>
              </a:ext>
            </a:extLst>
          </p:cNvPr>
          <p:cNvSpPr>
            <a:spLocks noGrp="1"/>
          </p:cNvSpPr>
          <p:nvPr>
            <p:ph type="title"/>
          </p:nvPr>
        </p:nvSpPr>
        <p:spPr>
          <a:xfrm>
            <a:off x="838200" y="365125"/>
            <a:ext cx="10515600" cy="633681"/>
          </a:xfrm>
        </p:spPr>
        <p:txBody>
          <a:bodyPr>
            <a:normAutofit/>
          </a:bodyPr>
          <a:lstStyle/>
          <a:p>
            <a:pPr algn="ctr"/>
            <a:r>
              <a:rPr lang="en-US" sz="3600" dirty="0">
                <a:latin typeface="Times New Roman" panose="02020603050405020304" pitchFamily="18" charset="0"/>
                <a:cs typeface="Times New Roman" panose="02020603050405020304" pitchFamily="18" charset="0"/>
              </a:rPr>
              <a:t>Shared Scan</a:t>
            </a:r>
          </a:p>
        </p:txBody>
      </p:sp>
      <p:sp>
        <p:nvSpPr>
          <p:cNvPr id="3" name="Content Placeholder 2">
            <a:extLst>
              <a:ext uri="{FF2B5EF4-FFF2-40B4-BE49-F238E27FC236}">
                <a16:creationId xmlns:a16="http://schemas.microsoft.com/office/drawing/2014/main" id="{1CB24652-0296-4D34-AFFB-9360B6F91B13}"/>
              </a:ext>
            </a:extLst>
          </p:cNvPr>
          <p:cNvSpPr>
            <a:spLocks noGrp="1"/>
          </p:cNvSpPr>
          <p:nvPr>
            <p:ph idx="1"/>
          </p:nvPr>
        </p:nvSpPr>
        <p:spPr>
          <a:xfrm>
            <a:off x="838199" y="998806"/>
            <a:ext cx="10908323" cy="5178157"/>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Implemented using </a:t>
            </a:r>
            <a:r>
              <a:rPr lang="en-US" sz="2400" dirty="0" err="1">
                <a:latin typeface="Times New Roman" panose="02020603050405020304" pitchFamily="18" charset="0"/>
                <a:cs typeface="Times New Roman" panose="02020603050405020304" pitchFamily="18" charset="0"/>
              </a:rPr>
              <a:t>Threadpool</a:t>
            </a:r>
            <a:r>
              <a:rPr lang="en-US" sz="2400" dirty="0">
                <a:latin typeface="Times New Roman" panose="02020603050405020304" pitchFamily="18" charset="0"/>
                <a:cs typeface="Times New Roman" panose="02020603050405020304" pitchFamily="18" charset="0"/>
              </a:rPr>
              <a:t> and number of threads in </a:t>
            </a:r>
            <a:r>
              <a:rPr lang="en-US" sz="2400" dirty="0" err="1">
                <a:latin typeface="Times New Roman" panose="02020603050405020304" pitchFamily="18" charset="0"/>
                <a:cs typeface="Times New Roman" panose="02020603050405020304" pitchFamily="18" charset="0"/>
              </a:rPr>
              <a:t>Threadpool</a:t>
            </a:r>
            <a:r>
              <a:rPr lang="en-US" sz="2400" dirty="0">
                <a:latin typeface="Times New Roman" panose="02020603050405020304" pitchFamily="18" charset="0"/>
                <a:cs typeface="Times New Roman" panose="02020603050405020304" pitchFamily="18" charset="0"/>
              </a:rPr>
              <a:t> is a parameter</a:t>
            </a:r>
          </a:p>
          <a:p>
            <a:r>
              <a:rPr lang="en-US" sz="2400" dirty="0">
                <a:latin typeface="Times New Roman" panose="02020603050405020304" pitchFamily="18" charset="0"/>
                <a:cs typeface="Times New Roman" panose="02020603050405020304" pitchFamily="18" charset="0"/>
              </a:rPr>
              <a:t>Each select query is added to a Task array during parse step.</a:t>
            </a:r>
          </a:p>
          <a:p>
            <a:r>
              <a:rPr lang="en-US" sz="2400" dirty="0">
                <a:latin typeface="Times New Roman" panose="02020603050405020304" pitchFamily="18" charset="0"/>
                <a:cs typeface="Times New Roman" panose="02020603050405020304" pitchFamily="18" charset="0"/>
              </a:rPr>
              <a:t>Each item in the Task array has a function pointer based on the select</a:t>
            </a:r>
          </a:p>
          <a:p>
            <a:r>
              <a:rPr lang="en-US" sz="2400" dirty="0">
                <a:latin typeface="Times New Roman" panose="02020603050405020304" pitchFamily="18" charset="0"/>
                <a:cs typeface="Times New Roman" panose="02020603050405020304" pitchFamily="18" charset="0"/>
              </a:rPr>
              <a:t>Each Thread in the </a:t>
            </a:r>
            <a:r>
              <a:rPr lang="en-US" sz="2400" dirty="0" err="1">
                <a:latin typeface="Times New Roman" panose="02020603050405020304" pitchFamily="18" charset="0"/>
                <a:cs typeface="Times New Roman" panose="02020603050405020304" pitchFamily="18" charset="0"/>
              </a:rPr>
              <a:t>Threadpool</a:t>
            </a:r>
            <a:r>
              <a:rPr lang="en-US" sz="2400" dirty="0">
                <a:latin typeface="Times New Roman" panose="02020603050405020304" pitchFamily="18" charset="0"/>
                <a:cs typeface="Times New Roman" panose="02020603050405020304" pitchFamily="18" charset="0"/>
              </a:rPr>
              <a:t> is assigned a specific task ids based on the Thread id which is index of the thread in </a:t>
            </a:r>
            <a:r>
              <a:rPr lang="en-US" sz="2400" dirty="0" err="1">
                <a:latin typeface="Times New Roman" panose="02020603050405020304" pitchFamily="18" charset="0"/>
                <a:cs typeface="Times New Roman" panose="02020603050405020304" pitchFamily="18" charset="0"/>
              </a:rPr>
              <a:t>Threadpool</a:t>
            </a:r>
            <a:r>
              <a:rPr lang="en-US" sz="24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For e.g. if there are 16 tasks/queries and 4 threads,</a:t>
            </a:r>
          </a:p>
          <a:p>
            <a:pPr marL="914400" lvl="2" indent="0">
              <a:buNone/>
            </a:pPr>
            <a:r>
              <a:rPr lang="en-US" dirty="0">
                <a:latin typeface="Times New Roman" panose="02020603050405020304" pitchFamily="18" charset="0"/>
                <a:cs typeface="Times New Roman" panose="02020603050405020304" pitchFamily="18" charset="0"/>
              </a:rPr>
              <a:t>Thread 1 will be assigned queries 1, 5, 9, 13. Thread 2 will be assigned queries 2, 6, 10, and 14.  and so on</a:t>
            </a:r>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Once the task is assigned, the column data is scanned vector wise. Using the previous example.</a:t>
            </a:r>
          </a:p>
          <a:p>
            <a:pPr lvl="1"/>
            <a:r>
              <a:rPr lang="en-US" sz="2000" dirty="0">
                <a:latin typeface="Times New Roman" panose="02020603050405020304" pitchFamily="18" charset="0"/>
                <a:cs typeface="Times New Roman" panose="02020603050405020304" pitchFamily="18" charset="0"/>
              </a:rPr>
              <a:t>Thread 2 starts processing query 2. Vector size is fixed to 3200</a:t>
            </a:r>
          </a:p>
          <a:p>
            <a:pPr lvl="1"/>
            <a:r>
              <a:rPr lang="en-US" sz="2000" dirty="0">
                <a:latin typeface="Times New Roman" panose="02020603050405020304" pitchFamily="18" charset="0"/>
                <a:cs typeface="Times New Roman" panose="02020603050405020304" pitchFamily="18" charset="0"/>
              </a:rPr>
              <a:t>Thread calls the appropriate select method using the function pointer of task array item</a:t>
            </a:r>
          </a:p>
          <a:p>
            <a:pPr lvl="1"/>
            <a:r>
              <a:rPr lang="en-US" sz="2000" dirty="0">
                <a:latin typeface="Times New Roman" panose="02020603050405020304" pitchFamily="18" charset="0"/>
                <a:cs typeface="Times New Roman" panose="02020603050405020304" pitchFamily="18" charset="0"/>
              </a:rPr>
              <a:t>The start position and running position vector to collect the qualifying tuples is passed</a:t>
            </a:r>
          </a:p>
          <a:p>
            <a:pPr lvl="1"/>
            <a:r>
              <a:rPr lang="en-US" sz="2000" dirty="0">
                <a:latin typeface="Times New Roman" panose="02020603050405020304" pitchFamily="18" charset="0"/>
                <a:cs typeface="Times New Roman" panose="02020603050405020304" pitchFamily="18" charset="0"/>
              </a:rPr>
              <a:t>Start position is incremented by vector size </a:t>
            </a:r>
          </a:p>
          <a:p>
            <a:pPr lvl="1"/>
            <a:r>
              <a:rPr lang="en-US" sz="2000" dirty="0">
                <a:latin typeface="Times New Roman" panose="02020603050405020304" pitchFamily="18" charset="0"/>
                <a:cs typeface="Times New Roman" panose="02020603050405020304" pitchFamily="18" charset="0"/>
              </a:rPr>
              <a:t>Once the scan of the column is done Thread 2 takes up query 6 and does same as above.</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9365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24ED-AD55-4803-9BB3-5729619694B5}"/>
              </a:ext>
            </a:extLst>
          </p:cNvPr>
          <p:cNvSpPr>
            <a:spLocks noGrp="1"/>
          </p:cNvSpPr>
          <p:nvPr>
            <p:ph type="title"/>
          </p:nvPr>
        </p:nvSpPr>
        <p:spPr>
          <a:xfrm>
            <a:off x="838200" y="365125"/>
            <a:ext cx="10515600" cy="647749"/>
          </a:xfrm>
        </p:spPr>
        <p:txBody>
          <a:bodyPr>
            <a:normAutofit/>
          </a:bodyPr>
          <a:lstStyle/>
          <a:p>
            <a:pPr algn="ctr"/>
            <a:r>
              <a:rPr lang="en-US" sz="3600" dirty="0">
                <a:latin typeface="Times New Roman" panose="02020603050405020304" pitchFamily="18" charset="0"/>
                <a:cs typeface="Times New Roman" panose="02020603050405020304" pitchFamily="18" charset="0"/>
              </a:rPr>
              <a:t>Shared Scan(continued..)</a:t>
            </a:r>
          </a:p>
        </p:txBody>
      </p:sp>
      <p:sp>
        <p:nvSpPr>
          <p:cNvPr id="3" name="Content Placeholder 2">
            <a:extLst>
              <a:ext uri="{FF2B5EF4-FFF2-40B4-BE49-F238E27FC236}">
                <a16:creationId xmlns:a16="http://schemas.microsoft.com/office/drawing/2014/main" id="{678132CA-D11E-47AB-A4FA-E182B3AADE5D}"/>
              </a:ext>
            </a:extLst>
          </p:cNvPr>
          <p:cNvSpPr>
            <a:spLocks noGrp="1"/>
          </p:cNvSpPr>
          <p:nvPr>
            <p:ph idx="1"/>
          </p:nvPr>
        </p:nvSpPr>
        <p:spPr>
          <a:xfrm>
            <a:off x="838200" y="1012874"/>
            <a:ext cx="10515600" cy="5164089"/>
          </a:xfrm>
        </p:spPr>
        <p:txBody>
          <a:bodyPr/>
          <a:lstStyle/>
          <a:p>
            <a:r>
              <a:rPr lang="en-US" sz="2400" dirty="0">
                <a:latin typeface="Times New Roman" panose="02020603050405020304" pitchFamily="18" charset="0"/>
                <a:cs typeface="Times New Roman" panose="02020603050405020304" pitchFamily="18" charset="0"/>
              </a:rPr>
              <a:t>Ran different test on 4 –core machine with different number of queries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Performance improvement of only 1.15 is observed.</a:t>
            </a:r>
          </a:p>
          <a:p>
            <a:r>
              <a:rPr lang="en-US" sz="2400" dirty="0">
                <a:latin typeface="Times New Roman" panose="02020603050405020304" pitchFamily="18" charset="0"/>
                <a:cs typeface="Times New Roman" panose="02020603050405020304" pitchFamily="18" charset="0"/>
              </a:rPr>
              <a:t>However on the test server, performance increase of  1.9 is observed.</a:t>
            </a:r>
          </a:p>
          <a:p>
            <a:endParaRPr lang="en-US" sz="24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graphicFrame>
        <p:nvGraphicFramePr>
          <p:cNvPr id="6" name="Table 5">
            <a:extLst>
              <a:ext uri="{FF2B5EF4-FFF2-40B4-BE49-F238E27FC236}">
                <a16:creationId xmlns:a16="http://schemas.microsoft.com/office/drawing/2014/main" id="{494BB4E2-531D-4E95-936C-3B4104165EAB}"/>
              </a:ext>
            </a:extLst>
          </p:cNvPr>
          <p:cNvGraphicFramePr>
            <a:graphicFrameLocks noGrp="1"/>
          </p:cNvGraphicFramePr>
          <p:nvPr>
            <p:extLst>
              <p:ext uri="{D42A27DB-BD31-4B8C-83A1-F6EECF244321}">
                <p14:modId xmlns:p14="http://schemas.microsoft.com/office/powerpoint/2010/main" val="117649099"/>
              </p:ext>
            </p:extLst>
          </p:nvPr>
        </p:nvGraphicFramePr>
        <p:xfrm>
          <a:off x="2789751" y="1949450"/>
          <a:ext cx="6579332" cy="1891028"/>
        </p:xfrm>
        <a:graphic>
          <a:graphicData uri="http://schemas.openxmlformats.org/drawingml/2006/table">
            <a:tbl>
              <a:tblPr firstRow="1" firstCol="1" bandRow="1"/>
              <a:tblGrid>
                <a:gridCol w="828222">
                  <a:extLst>
                    <a:ext uri="{9D8B030D-6E8A-4147-A177-3AD203B41FA5}">
                      <a16:colId xmlns:a16="http://schemas.microsoft.com/office/drawing/2014/main" val="3099129469"/>
                    </a:ext>
                  </a:extLst>
                </a:gridCol>
                <a:gridCol w="1080840">
                  <a:extLst>
                    <a:ext uri="{9D8B030D-6E8A-4147-A177-3AD203B41FA5}">
                      <a16:colId xmlns:a16="http://schemas.microsoft.com/office/drawing/2014/main" val="2101952487"/>
                    </a:ext>
                  </a:extLst>
                </a:gridCol>
                <a:gridCol w="873961">
                  <a:extLst>
                    <a:ext uri="{9D8B030D-6E8A-4147-A177-3AD203B41FA5}">
                      <a16:colId xmlns:a16="http://schemas.microsoft.com/office/drawing/2014/main" val="2976922247"/>
                    </a:ext>
                  </a:extLst>
                </a:gridCol>
                <a:gridCol w="1139948">
                  <a:extLst>
                    <a:ext uri="{9D8B030D-6E8A-4147-A177-3AD203B41FA5}">
                      <a16:colId xmlns:a16="http://schemas.microsoft.com/office/drawing/2014/main" val="827160444"/>
                    </a:ext>
                  </a:extLst>
                </a:gridCol>
                <a:gridCol w="1076618">
                  <a:extLst>
                    <a:ext uri="{9D8B030D-6E8A-4147-A177-3AD203B41FA5}">
                      <a16:colId xmlns:a16="http://schemas.microsoft.com/office/drawing/2014/main" val="2505848523"/>
                    </a:ext>
                  </a:extLst>
                </a:gridCol>
                <a:gridCol w="1579743">
                  <a:extLst>
                    <a:ext uri="{9D8B030D-6E8A-4147-A177-3AD203B41FA5}">
                      <a16:colId xmlns:a16="http://schemas.microsoft.com/office/drawing/2014/main" val="70396483"/>
                    </a:ext>
                  </a:extLst>
                </a:gridCol>
              </a:tblGrid>
              <a:tr h="458554">
                <a:tc>
                  <a:txBody>
                    <a:bodyPr/>
                    <a:lstStyle/>
                    <a:p>
                      <a:endParaRPr lang="en-US" sz="110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Normal Scan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Shared Scan</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lgn="just">
                        <a:lnSpc>
                          <a:spcPct val="107000"/>
                        </a:lnSpc>
                        <a:spcBef>
                          <a:spcPts val="0"/>
                        </a:spcBef>
                        <a:spcAft>
                          <a:spcPts val="0"/>
                        </a:spcAft>
                      </a:pP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NormalScan</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/Shared Scan for 4 Threads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5630626"/>
                  </a:ext>
                </a:extLst>
              </a:tr>
              <a:tr h="458554">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 queries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 Thread</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 2 Threads (usec)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4 Threads</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usec</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8Threads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a:effectLst/>
                        <a:latin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0590106"/>
                  </a:ext>
                </a:extLst>
              </a:tr>
              <a:tr h="243480">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22380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20288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20669</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20490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1.082780976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6837896"/>
                  </a:ext>
                </a:extLst>
              </a:tr>
              <a:tr h="243480">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46694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41420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40142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44644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1.163220567</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9560586"/>
                  </a:ext>
                </a:extLst>
              </a:tr>
              <a:tr h="243480">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86006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75973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75748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88684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1.135422717</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0099846"/>
                  </a:ext>
                </a:extLst>
              </a:tr>
              <a:tr h="243480">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170656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146189</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156130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157128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1.093037853</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1449073"/>
                  </a:ext>
                </a:extLst>
              </a:tr>
            </a:tbl>
          </a:graphicData>
        </a:graphic>
      </p:graphicFrame>
    </p:spTree>
    <p:extLst>
      <p:ext uri="{BB962C8B-B14F-4D97-AF65-F5344CB8AC3E}">
        <p14:creationId xmlns:p14="http://schemas.microsoft.com/office/powerpoint/2010/main" val="126235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EA444-3804-4C45-9D10-9F85C5539231}"/>
              </a:ext>
            </a:extLst>
          </p:cNvPr>
          <p:cNvSpPr>
            <a:spLocks noGrp="1"/>
          </p:cNvSpPr>
          <p:nvPr>
            <p:ph type="title"/>
          </p:nvPr>
        </p:nvSpPr>
        <p:spPr>
          <a:xfrm>
            <a:off x="838200" y="365125"/>
            <a:ext cx="10515600" cy="986597"/>
          </a:xfrm>
        </p:spPr>
        <p:txBody>
          <a:bodyPr>
            <a:normAutofit/>
          </a:bodyPr>
          <a:lstStyle/>
          <a:p>
            <a:pPr algn="ctr"/>
            <a:r>
              <a:rPr lang="en-US" sz="3600" dirty="0">
                <a:latin typeface="Times New Roman" panose="02020603050405020304" pitchFamily="18" charset="0"/>
                <a:cs typeface="Times New Roman" panose="02020603050405020304" pitchFamily="18" charset="0"/>
              </a:rPr>
              <a:t>B-Tree and Sort Index</a:t>
            </a:r>
          </a:p>
        </p:txBody>
      </p:sp>
      <p:sp>
        <p:nvSpPr>
          <p:cNvPr id="3" name="Content Placeholder 2">
            <a:extLst>
              <a:ext uri="{FF2B5EF4-FFF2-40B4-BE49-F238E27FC236}">
                <a16:creationId xmlns:a16="http://schemas.microsoft.com/office/drawing/2014/main" id="{6CB21BDD-940D-4AEE-9A95-F08F334D9793}"/>
              </a:ext>
            </a:extLst>
          </p:cNvPr>
          <p:cNvSpPr>
            <a:spLocks noGrp="1"/>
          </p:cNvSpPr>
          <p:nvPr>
            <p:ph idx="1"/>
          </p:nvPr>
        </p:nvSpPr>
        <p:spPr>
          <a:xfrm>
            <a:off x="838200" y="1457739"/>
            <a:ext cx="10515600" cy="4719224"/>
          </a:xfrm>
        </p:spPr>
        <p:txBody>
          <a:bodyPr>
            <a:normAutofit/>
          </a:bodyPr>
          <a:lstStyle/>
          <a:p>
            <a:r>
              <a:rPr lang="en-US" sz="2400" dirty="0">
                <a:latin typeface="Times New Roman" panose="02020603050405020304" pitchFamily="18" charset="0"/>
                <a:cs typeface="Times New Roman" panose="02020603050405020304" pitchFamily="18" charset="0"/>
              </a:rPr>
              <a:t>Sort Index</a:t>
            </a:r>
          </a:p>
          <a:p>
            <a:pPr lvl="1"/>
            <a:r>
              <a:rPr lang="en-US" dirty="0">
                <a:latin typeface="Times New Roman" panose="02020603050405020304" pitchFamily="18" charset="0"/>
                <a:cs typeface="Times New Roman" panose="02020603050405020304" pitchFamily="18" charset="0"/>
              </a:rPr>
              <a:t>Merge sort for sorting the index column</a:t>
            </a:r>
          </a:p>
          <a:p>
            <a:pPr lvl="1"/>
            <a:r>
              <a:rPr lang="en-US" dirty="0">
                <a:latin typeface="Times New Roman" panose="02020603050405020304" pitchFamily="18" charset="0"/>
                <a:cs typeface="Times New Roman" panose="02020603050405020304" pitchFamily="18" charset="0"/>
              </a:rPr>
              <a:t>For clustered index the sort order is propagated</a:t>
            </a:r>
          </a:p>
          <a:p>
            <a:pPr lvl="1"/>
            <a:r>
              <a:rPr lang="en-US" dirty="0">
                <a:latin typeface="Times New Roman" panose="02020603050405020304" pitchFamily="18" charset="0"/>
                <a:cs typeface="Times New Roman" panose="02020603050405020304" pitchFamily="18" charset="0"/>
              </a:rPr>
              <a:t>Position vector stores the original position ids</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 Tree Index</a:t>
            </a:r>
          </a:p>
          <a:p>
            <a:pPr lvl="1"/>
            <a:r>
              <a:rPr lang="en-US" dirty="0">
                <a:latin typeface="Times New Roman" panose="02020603050405020304" pitchFamily="18" charset="0"/>
                <a:cs typeface="Times New Roman" panose="02020603050405020304" pitchFamily="18" charset="0"/>
              </a:rPr>
              <a:t>Merge sort for sorting the index column</a:t>
            </a:r>
          </a:p>
          <a:p>
            <a:pPr lvl="1"/>
            <a:r>
              <a:rPr lang="en-US" dirty="0">
                <a:latin typeface="Times New Roman" panose="02020603050405020304" pitchFamily="18" charset="0"/>
                <a:cs typeface="Times New Roman" panose="02020603050405020304" pitchFamily="18" charset="0"/>
              </a:rPr>
              <a:t>Construct the B-Tree and store the original position ids at leaf nodes.</a:t>
            </a:r>
          </a:p>
          <a:p>
            <a:pPr lvl="1"/>
            <a:r>
              <a:rPr lang="en-US" dirty="0">
                <a:latin typeface="Times New Roman" panose="02020603050405020304" pitchFamily="18" charset="0"/>
                <a:cs typeface="Times New Roman" panose="02020603050405020304" pitchFamily="18" charset="0"/>
              </a:rPr>
              <a:t>Order of the B-Tree is a parameter. Currently set to 1024</a:t>
            </a:r>
          </a:p>
          <a:p>
            <a:pPr marL="457200" lvl="1"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3919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48E31-E7A7-42AB-93CC-38FE7BA5902F}"/>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B-Tree </a:t>
            </a:r>
          </a:p>
        </p:txBody>
      </p:sp>
      <p:pic>
        <p:nvPicPr>
          <p:cNvPr id="4" name="Content Placeholder 3">
            <a:extLst>
              <a:ext uri="{FF2B5EF4-FFF2-40B4-BE49-F238E27FC236}">
                <a16:creationId xmlns:a16="http://schemas.microsoft.com/office/drawing/2014/main" id="{DA59A292-C539-40E8-BF68-0EF218D66F0C}"/>
              </a:ext>
            </a:extLst>
          </p:cNvPr>
          <p:cNvPicPr>
            <a:picLocks noGrp="1" noChangeAspect="1"/>
          </p:cNvPicPr>
          <p:nvPr>
            <p:ph idx="1"/>
          </p:nvPr>
        </p:nvPicPr>
        <p:blipFill>
          <a:blip r:embed="rId2"/>
          <a:stretch>
            <a:fillRect/>
          </a:stretch>
        </p:blipFill>
        <p:spPr>
          <a:xfrm>
            <a:off x="2943225" y="2372519"/>
            <a:ext cx="6305550" cy="3257550"/>
          </a:xfrm>
          <a:prstGeom prst="rect">
            <a:avLst/>
          </a:prstGeom>
        </p:spPr>
      </p:pic>
    </p:spTree>
    <p:extLst>
      <p:ext uri="{BB962C8B-B14F-4D97-AF65-F5344CB8AC3E}">
        <p14:creationId xmlns:p14="http://schemas.microsoft.com/office/powerpoint/2010/main" val="4062843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F11F-565B-4B97-9935-7822CF37B9C3}"/>
              </a:ext>
            </a:extLst>
          </p:cNvPr>
          <p:cNvSpPr>
            <a:spLocks noGrp="1"/>
          </p:cNvSpPr>
          <p:nvPr>
            <p:ph type="title"/>
          </p:nvPr>
        </p:nvSpPr>
        <p:spPr>
          <a:xfrm>
            <a:off x="1063282" y="392650"/>
            <a:ext cx="10515601" cy="858129"/>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B-Tree Construction and Persistence</a:t>
            </a:r>
            <a:br>
              <a:rPr lang="en-US" dirty="0"/>
            </a:br>
            <a:endParaRPr lang="en-US" dirty="0"/>
          </a:p>
        </p:txBody>
      </p:sp>
      <p:sp>
        <p:nvSpPr>
          <p:cNvPr id="4" name="Content Placeholder 3">
            <a:extLst>
              <a:ext uri="{FF2B5EF4-FFF2-40B4-BE49-F238E27FC236}">
                <a16:creationId xmlns:a16="http://schemas.microsoft.com/office/drawing/2014/main" id="{ACE8E0E9-D7BA-4271-B886-4CA3C223794A}"/>
              </a:ext>
            </a:extLst>
          </p:cNvPr>
          <p:cNvSpPr>
            <a:spLocks noGrp="1"/>
          </p:cNvSpPr>
          <p:nvPr>
            <p:ph idx="1"/>
          </p:nvPr>
        </p:nvSpPr>
        <p:spPr>
          <a:xfrm>
            <a:off x="838197" y="956603"/>
            <a:ext cx="10515601" cy="5079682"/>
          </a:xfrm>
        </p:spPr>
        <p:txBody>
          <a:bodyPr/>
          <a:lstStyle/>
          <a:p>
            <a:r>
              <a:rPr lang="en-US" sz="2400" dirty="0">
                <a:latin typeface="Times New Roman" panose="02020603050405020304" pitchFamily="18" charset="0"/>
                <a:cs typeface="Times New Roman" panose="02020603050405020304" pitchFamily="18" charset="0"/>
              </a:rPr>
              <a:t>Bulk insertion vs Normal insertion with sorting</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Persistence of B-Tree by serializing and reconstructing the tree on start up.</a:t>
            </a:r>
          </a:p>
          <a:p>
            <a:r>
              <a:rPr lang="en-US" sz="2400" dirty="0">
                <a:latin typeface="Times New Roman" panose="02020603050405020304" pitchFamily="18" charset="0"/>
                <a:cs typeface="Times New Roman" panose="02020603050405020304" pitchFamily="18" charset="0"/>
              </a:rPr>
              <a:t>Index file is stored as preorder traversal of tree.</a:t>
            </a:r>
          </a:p>
          <a:p>
            <a:r>
              <a:rPr lang="en-US" sz="2400" dirty="0">
                <a:latin typeface="Times New Roman" panose="02020603050405020304" pitchFamily="18" charset="0"/>
                <a:cs typeface="Times New Roman" panose="02020603050405020304" pitchFamily="18" charset="0"/>
              </a:rPr>
              <a:t>Compare time for test 20 before persistence and after persistence</a:t>
            </a:r>
          </a:p>
        </p:txBody>
      </p:sp>
      <p:graphicFrame>
        <p:nvGraphicFramePr>
          <p:cNvPr id="3" name="Table 2">
            <a:extLst>
              <a:ext uri="{FF2B5EF4-FFF2-40B4-BE49-F238E27FC236}">
                <a16:creationId xmlns:a16="http://schemas.microsoft.com/office/drawing/2014/main" id="{887F979D-70E5-402C-9156-3F7A3CC8E747}"/>
              </a:ext>
            </a:extLst>
          </p:cNvPr>
          <p:cNvGraphicFramePr>
            <a:graphicFrameLocks noGrp="1"/>
          </p:cNvGraphicFramePr>
          <p:nvPr>
            <p:extLst>
              <p:ext uri="{D42A27DB-BD31-4B8C-83A1-F6EECF244321}">
                <p14:modId xmlns:p14="http://schemas.microsoft.com/office/powerpoint/2010/main" val="4148145239"/>
              </p:ext>
            </p:extLst>
          </p:nvPr>
        </p:nvGraphicFramePr>
        <p:xfrm>
          <a:off x="3261921" y="1522209"/>
          <a:ext cx="3828197" cy="1232968"/>
        </p:xfrm>
        <a:graphic>
          <a:graphicData uri="http://schemas.openxmlformats.org/drawingml/2006/table">
            <a:tbl>
              <a:tblPr firstRow="1" firstCol="1" bandRow="1"/>
              <a:tblGrid>
                <a:gridCol w="978759">
                  <a:extLst>
                    <a:ext uri="{9D8B030D-6E8A-4147-A177-3AD203B41FA5}">
                      <a16:colId xmlns:a16="http://schemas.microsoft.com/office/drawing/2014/main" val="1558682919"/>
                    </a:ext>
                  </a:extLst>
                </a:gridCol>
                <a:gridCol w="1457919">
                  <a:extLst>
                    <a:ext uri="{9D8B030D-6E8A-4147-A177-3AD203B41FA5}">
                      <a16:colId xmlns:a16="http://schemas.microsoft.com/office/drawing/2014/main" val="1913925209"/>
                    </a:ext>
                  </a:extLst>
                </a:gridCol>
                <a:gridCol w="1391519">
                  <a:extLst>
                    <a:ext uri="{9D8B030D-6E8A-4147-A177-3AD203B41FA5}">
                      <a16:colId xmlns:a16="http://schemas.microsoft.com/office/drawing/2014/main" val="3167117915"/>
                    </a:ext>
                  </a:extLst>
                </a:gridCol>
              </a:tblGrid>
              <a:tr h="0">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B-Tree Fanout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Normal Insertion(usec)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Bulk Insertion(</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usec</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7764929"/>
                  </a:ext>
                </a:extLst>
              </a:tr>
              <a:tr h="263395">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519329</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343296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1774594"/>
                  </a:ext>
                </a:extLst>
              </a:tr>
              <a:tr h="263395">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64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401829</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329886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8471694"/>
                  </a:ext>
                </a:extLst>
              </a:tr>
              <a:tr h="263395">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256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379245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327630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684362"/>
                  </a:ext>
                </a:extLst>
              </a:tr>
              <a:tr h="263395">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1024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369807</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326220</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6619423"/>
                  </a:ext>
                </a:extLst>
              </a:tr>
            </a:tbl>
          </a:graphicData>
        </a:graphic>
      </p:graphicFrame>
      <p:graphicFrame>
        <p:nvGraphicFramePr>
          <p:cNvPr id="5" name="Table 4">
            <a:extLst>
              <a:ext uri="{FF2B5EF4-FFF2-40B4-BE49-F238E27FC236}">
                <a16:creationId xmlns:a16="http://schemas.microsoft.com/office/drawing/2014/main" id="{0EB41069-93D8-4ABA-B88A-687B13BF1073}"/>
              </a:ext>
            </a:extLst>
          </p:cNvPr>
          <p:cNvGraphicFramePr>
            <a:graphicFrameLocks noGrp="1"/>
          </p:cNvGraphicFramePr>
          <p:nvPr>
            <p:extLst>
              <p:ext uri="{D42A27DB-BD31-4B8C-83A1-F6EECF244321}">
                <p14:modId xmlns:p14="http://schemas.microsoft.com/office/powerpoint/2010/main" val="2475553995"/>
              </p:ext>
            </p:extLst>
          </p:nvPr>
        </p:nvGraphicFramePr>
        <p:xfrm>
          <a:off x="2756452" y="5155095"/>
          <a:ext cx="4545495" cy="609600"/>
        </p:xfrm>
        <a:graphic>
          <a:graphicData uri="http://schemas.openxmlformats.org/drawingml/2006/table">
            <a:tbl>
              <a:tblPr firstRow="1" bandRow="1">
                <a:tableStyleId>{5940675A-B579-460E-94D1-54222C63F5DA}</a:tableStyleId>
              </a:tblPr>
              <a:tblGrid>
                <a:gridCol w="2021066">
                  <a:extLst>
                    <a:ext uri="{9D8B030D-6E8A-4147-A177-3AD203B41FA5}">
                      <a16:colId xmlns:a16="http://schemas.microsoft.com/office/drawing/2014/main" val="3796255552"/>
                    </a:ext>
                  </a:extLst>
                </a:gridCol>
                <a:gridCol w="2524429">
                  <a:extLst>
                    <a:ext uri="{9D8B030D-6E8A-4147-A177-3AD203B41FA5}">
                      <a16:colId xmlns:a16="http://schemas.microsoft.com/office/drawing/2014/main" val="90157665"/>
                    </a:ext>
                  </a:extLst>
                </a:gridCol>
              </a:tblGrid>
              <a:tr h="0">
                <a:tc>
                  <a:txBody>
                    <a:bodyPr/>
                    <a:lstStyle/>
                    <a:p>
                      <a:r>
                        <a:rPr lang="en-US" sz="1400" dirty="0">
                          <a:latin typeface="Times New Roman" panose="02020603050405020304" pitchFamily="18" charset="0"/>
                          <a:cs typeface="Times New Roman" panose="02020603050405020304" pitchFamily="18" charset="0"/>
                        </a:rPr>
                        <a:t>Before Persistence (</a:t>
                      </a:r>
                      <a:r>
                        <a:rPr lang="en-US" sz="1400" dirty="0" err="1">
                          <a:latin typeface="Times New Roman" panose="02020603050405020304" pitchFamily="18" charset="0"/>
                          <a:cs typeface="Times New Roman" panose="02020603050405020304" pitchFamily="18" charset="0"/>
                        </a:rPr>
                        <a:t>usec</a:t>
                      </a:r>
                      <a:r>
                        <a:rPr lang="en-US" sz="1400" dirty="0">
                          <a:latin typeface="Times New Roman" panose="02020603050405020304" pitchFamily="18" charset="0"/>
                          <a:cs typeface="Times New Roman" panose="02020603050405020304" pitchFamily="18" charset="0"/>
                        </a:rPr>
                        <a:t>)</a:t>
                      </a:r>
                    </a:p>
                  </a:txBody>
                  <a:tcPr/>
                </a:tc>
                <a:tc>
                  <a:txBody>
                    <a:bodyPr/>
                    <a:lstStyle/>
                    <a:p>
                      <a:r>
                        <a:rPr lang="en-US" sz="1400" dirty="0">
                          <a:latin typeface="Times New Roman" panose="02020603050405020304" pitchFamily="18" charset="0"/>
                          <a:cs typeface="Times New Roman" panose="02020603050405020304" pitchFamily="18" charset="0"/>
                        </a:rPr>
                        <a:t>After Persistence (</a:t>
                      </a:r>
                      <a:r>
                        <a:rPr lang="en-US" sz="1400" dirty="0" err="1">
                          <a:latin typeface="Times New Roman" panose="02020603050405020304" pitchFamily="18" charset="0"/>
                          <a:cs typeface="Times New Roman" panose="02020603050405020304" pitchFamily="18" charset="0"/>
                        </a:rPr>
                        <a:t>usec</a:t>
                      </a:r>
                      <a:r>
                        <a:rPr lang="en-US" sz="14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221485939"/>
                  </a:ext>
                </a:extLst>
              </a:tr>
              <a:tr h="0">
                <a:tc>
                  <a:txBody>
                    <a:bodyPr/>
                    <a:lstStyle/>
                    <a:p>
                      <a:r>
                        <a:rPr lang="en-US" sz="1400" dirty="0">
                          <a:latin typeface="Times New Roman" panose="02020603050405020304" pitchFamily="18" charset="0"/>
                          <a:cs typeface="Times New Roman" panose="02020603050405020304" pitchFamily="18" charset="0"/>
                        </a:rPr>
                        <a:t>301212</a:t>
                      </a:r>
                    </a:p>
                  </a:txBody>
                  <a:tcPr/>
                </a:tc>
                <a:tc>
                  <a:txBody>
                    <a:bodyPr/>
                    <a:lstStyle/>
                    <a:p>
                      <a:r>
                        <a:rPr lang="en-US" sz="1400" dirty="0">
                          <a:latin typeface="Times New Roman" panose="02020603050405020304" pitchFamily="18" charset="0"/>
                          <a:cs typeface="Times New Roman" panose="02020603050405020304" pitchFamily="18" charset="0"/>
                        </a:rPr>
                        <a:t>12757</a:t>
                      </a:r>
                    </a:p>
                  </a:txBody>
                  <a:tcPr/>
                </a:tc>
                <a:extLst>
                  <a:ext uri="{0D108BD9-81ED-4DB2-BD59-A6C34878D82A}">
                    <a16:rowId xmlns:a16="http://schemas.microsoft.com/office/drawing/2014/main" val="2957290490"/>
                  </a:ext>
                </a:extLst>
              </a:tr>
            </a:tbl>
          </a:graphicData>
        </a:graphic>
      </p:graphicFrame>
    </p:spTree>
    <p:extLst>
      <p:ext uri="{BB962C8B-B14F-4D97-AF65-F5344CB8AC3E}">
        <p14:creationId xmlns:p14="http://schemas.microsoft.com/office/powerpoint/2010/main" val="912727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B756-EF24-442D-BDD2-7B7FF9BEFB5E}"/>
              </a:ext>
            </a:extLst>
          </p:cNvPr>
          <p:cNvSpPr>
            <a:spLocks noGrp="1"/>
          </p:cNvSpPr>
          <p:nvPr>
            <p:ph type="title"/>
          </p:nvPr>
        </p:nvSpPr>
        <p:spPr>
          <a:xfrm>
            <a:off x="838200" y="365126"/>
            <a:ext cx="10515600" cy="774358"/>
          </a:xfrm>
        </p:spPr>
        <p:txBody>
          <a:bodyPr>
            <a:normAutofit/>
          </a:bodyPr>
          <a:lstStyle/>
          <a:p>
            <a:pPr algn="ctr"/>
            <a:r>
              <a:rPr lang="en-US" sz="3600" b="1" dirty="0">
                <a:latin typeface="Times New Roman" panose="02020603050405020304" pitchFamily="18" charset="0"/>
                <a:cs typeface="Times New Roman" panose="02020603050405020304" pitchFamily="18" charset="0"/>
              </a:rPr>
              <a:t>Select</a:t>
            </a:r>
          </a:p>
        </p:txBody>
      </p:sp>
      <p:sp>
        <p:nvSpPr>
          <p:cNvPr id="6" name="Content Placeholder 5">
            <a:extLst>
              <a:ext uri="{FF2B5EF4-FFF2-40B4-BE49-F238E27FC236}">
                <a16:creationId xmlns:a16="http://schemas.microsoft.com/office/drawing/2014/main" id="{A15B07F7-AA96-4FF6-BE59-D7D2483F5ED5}"/>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Results of select operator for various scan methods on two random column of 1M.</a:t>
            </a:r>
          </a:p>
        </p:txBody>
      </p:sp>
      <p:graphicFrame>
        <p:nvGraphicFramePr>
          <p:cNvPr id="3" name="Chart 2">
            <a:extLst>
              <a:ext uri="{FF2B5EF4-FFF2-40B4-BE49-F238E27FC236}">
                <a16:creationId xmlns:a16="http://schemas.microsoft.com/office/drawing/2014/main" id="{B0CF22D1-E0E1-4E6D-BF6F-150F33F84504}"/>
              </a:ext>
            </a:extLst>
          </p:cNvPr>
          <p:cNvGraphicFramePr/>
          <p:nvPr>
            <p:extLst>
              <p:ext uri="{D42A27DB-BD31-4B8C-83A1-F6EECF244321}">
                <p14:modId xmlns:p14="http://schemas.microsoft.com/office/powerpoint/2010/main" val="60768769"/>
              </p:ext>
            </p:extLst>
          </p:nvPr>
        </p:nvGraphicFramePr>
        <p:xfrm>
          <a:off x="5308298" y="2824713"/>
          <a:ext cx="5618922" cy="34871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a:extLst>
              <a:ext uri="{FF2B5EF4-FFF2-40B4-BE49-F238E27FC236}">
                <a16:creationId xmlns:a16="http://schemas.microsoft.com/office/drawing/2014/main" id="{CD1D39C0-D05E-480E-B1BB-D4A3AFCC737C}"/>
              </a:ext>
            </a:extLst>
          </p:cNvPr>
          <p:cNvGraphicFramePr>
            <a:graphicFrameLocks noGrp="1"/>
          </p:cNvGraphicFramePr>
          <p:nvPr>
            <p:extLst>
              <p:ext uri="{D42A27DB-BD31-4B8C-83A1-F6EECF244321}">
                <p14:modId xmlns:p14="http://schemas.microsoft.com/office/powerpoint/2010/main" val="643114451"/>
              </p:ext>
            </p:extLst>
          </p:nvPr>
        </p:nvGraphicFramePr>
        <p:xfrm>
          <a:off x="940798" y="3429000"/>
          <a:ext cx="3940920" cy="1956584"/>
        </p:xfrm>
        <a:graphic>
          <a:graphicData uri="http://schemas.openxmlformats.org/drawingml/2006/table">
            <a:tbl>
              <a:tblPr firstRow="1" firstCol="1" bandRow="1"/>
              <a:tblGrid>
                <a:gridCol w="752057">
                  <a:extLst>
                    <a:ext uri="{9D8B030D-6E8A-4147-A177-3AD203B41FA5}">
                      <a16:colId xmlns:a16="http://schemas.microsoft.com/office/drawing/2014/main" val="2614523792"/>
                    </a:ext>
                  </a:extLst>
                </a:gridCol>
                <a:gridCol w="988217">
                  <a:extLst>
                    <a:ext uri="{9D8B030D-6E8A-4147-A177-3AD203B41FA5}">
                      <a16:colId xmlns:a16="http://schemas.microsoft.com/office/drawing/2014/main" val="2241072"/>
                    </a:ext>
                  </a:extLst>
                </a:gridCol>
                <a:gridCol w="998760">
                  <a:extLst>
                    <a:ext uri="{9D8B030D-6E8A-4147-A177-3AD203B41FA5}">
                      <a16:colId xmlns:a16="http://schemas.microsoft.com/office/drawing/2014/main" val="1617377748"/>
                    </a:ext>
                  </a:extLst>
                </a:gridCol>
                <a:gridCol w="1201886">
                  <a:extLst>
                    <a:ext uri="{9D8B030D-6E8A-4147-A177-3AD203B41FA5}">
                      <a16:colId xmlns:a16="http://schemas.microsoft.com/office/drawing/2014/main" val="54044387"/>
                    </a:ext>
                  </a:extLst>
                </a:gridCol>
              </a:tblGrid>
              <a:tr h="424599">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Selectivity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NormalScan (usec)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IndexScan</a:t>
                      </a:r>
                      <a:endParaRPr lang="en-US" sz="11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BTree</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usec</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IndexScan</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 (Sort)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usec</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974987"/>
                  </a:ext>
                </a:extLst>
              </a:tr>
              <a:tr h="306397">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0.1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5561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1242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1053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6418177"/>
                  </a:ext>
                </a:extLst>
              </a:tr>
              <a:tr h="306397">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5680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1276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1176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1653690"/>
                  </a:ext>
                </a:extLst>
              </a:tr>
              <a:tr h="306397">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6061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1292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1242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334443"/>
                  </a:ext>
                </a:extLst>
              </a:tr>
              <a:tr h="306397">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6361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1693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1453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0579074"/>
                  </a:ext>
                </a:extLst>
              </a:tr>
              <a:tr h="306397">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8443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2396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2182</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5730527"/>
                  </a:ext>
                </a:extLst>
              </a:tr>
            </a:tbl>
          </a:graphicData>
        </a:graphic>
      </p:graphicFrame>
      <p:sp>
        <p:nvSpPr>
          <p:cNvPr id="5" name="Rectangle 1">
            <a:extLst>
              <a:ext uri="{FF2B5EF4-FFF2-40B4-BE49-F238E27FC236}">
                <a16:creationId xmlns:a16="http://schemas.microsoft.com/office/drawing/2014/main" id="{9EA37D14-1D6B-451A-942F-EF2FEDBF070D}"/>
              </a:ext>
            </a:extLst>
          </p:cNvPr>
          <p:cNvSpPr>
            <a:spLocks noChangeArrowheads="1"/>
          </p:cNvSpPr>
          <p:nvPr/>
        </p:nvSpPr>
        <p:spPr bwMode="auto">
          <a:xfrm>
            <a:off x="1095542" y="3198016"/>
            <a:ext cx="123603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0EECC-4341-4A85-A711-2FCDA7C20712}"/>
              </a:ext>
            </a:extLst>
          </p:cNvPr>
          <p:cNvSpPr>
            <a:spLocks noGrp="1"/>
          </p:cNvSpPr>
          <p:nvPr>
            <p:ph type="title"/>
          </p:nvPr>
        </p:nvSpPr>
        <p:spPr>
          <a:xfrm>
            <a:off x="838200" y="365126"/>
            <a:ext cx="10515600" cy="781900"/>
          </a:xfrm>
        </p:spPr>
        <p:txBody>
          <a:bodyPr>
            <a:normAutofit/>
          </a:bodyPr>
          <a:lstStyle/>
          <a:p>
            <a:pPr algn="ctr"/>
            <a:r>
              <a:rPr lang="en-US" sz="3600" b="1" dirty="0">
                <a:latin typeface="Times New Roman" panose="02020603050405020304" pitchFamily="18" charset="0"/>
                <a:cs typeface="Times New Roman" panose="02020603050405020304" pitchFamily="18" charset="0"/>
              </a:rPr>
              <a:t>Fetch</a:t>
            </a:r>
          </a:p>
        </p:txBody>
      </p:sp>
      <p:sp>
        <p:nvSpPr>
          <p:cNvPr id="5" name="Content Placeholder 4">
            <a:extLst>
              <a:ext uri="{FF2B5EF4-FFF2-40B4-BE49-F238E27FC236}">
                <a16:creationId xmlns:a16="http://schemas.microsoft.com/office/drawing/2014/main" id="{6C736578-7B75-4F14-BE55-894C7F6B8607}"/>
              </a:ext>
            </a:extLst>
          </p:cNvPr>
          <p:cNvSpPr>
            <a:spLocks noGrp="1"/>
          </p:cNvSpPr>
          <p:nvPr>
            <p:ph idx="1"/>
          </p:nvPr>
        </p:nvSpPr>
        <p:spPr>
          <a:xfrm>
            <a:off x="309489" y="1434906"/>
            <a:ext cx="11044311" cy="4768946"/>
          </a:xfrm>
        </p:spPr>
        <p:txBody>
          <a:bodyPr>
            <a:normAutofit/>
          </a:bodyPr>
          <a:lstStyle/>
          <a:p>
            <a:r>
              <a:rPr lang="en-US" sz="2400" dirty="0">
                <a:latin typeface="Times New Roman" panose="02020603050405020304" pitchFamily="18" charset="0"/>
                <a:cs typeface="Times New Roman" panose="02020603050405020304" pitchFamily="18" charset="0"/>
              </a:rPr>
              <a:t>Results for  Fetch operator for different scan methods on two random columns of 1M </a:t>
            </a:r>
          </a:p>
        </p:txBody>
      </p:sp>
      <p:graphicFrame>
        <p:nvGraphicFramePr>
          <p:cNvPr id="3" name="Chart 2">
            <a:extLst>
              <a:ext uri="{FF2B5EF4-FFF2-40B4-BE49-F238E27FC236}">
                <a16:creationId xmlns:a16="http://schemas.microsoft.com/office/drawing/2014/main" id="{4FBD296A-27F1-4EF4-9D0A-97807AB563BB}"/>
              </a:ext>
            </a:extLst>
          </p:cNvPr>
          <p:cNvGraphicFramePr/>
          <p:nvPr>
            <p:extLst>
              <p:ext uri="{D42A27DB-BD31-4B8C-83A1-F6EECF244321}">
                <p14:modId xmlns:p14="http://schemas.microsoft.com/office/powerpoint/2010/main" val="716637510"/>
              </p:ext>
            </p:extLst>
          </p:nvPr>
        </p:nvGraphicFramePr>
        <p:xfrm>
          <a:off x="5655213" y="2253805"/>
          <a:ext cx="5511274" cy="33815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a:extLst>
              <a:ext uri="{FF2B5EF4-FFF2-40B4-BE49-F238E27FC236}">
                <a16:creationId xmlns:a16="http://schemas.microsoft.com/office/drawing/2014/main" id="{611D792F-E2F1-40FF-B36C-BF1DC945CC2D}"/>
              </a:ext>
            </a:extLst>
          </p:cNvPr>
          <p:cNvGraphicFramePr>
            <a:graphicFrameLocks noGrp="1"/>
          </p:cNvGraphicFramePr>
          <p:nvPr>
            <p:extLst>
              <p:ext uri="{D42A27DB-BD31-4B8C-83A1-F6EECF244321}">
                <p14:modId xmlns:p14="http://schemas.microsoft.com/office/powerpoint/2010/main" val="853512769"/>
              </p:ext>
            </p:extLst>
          </p:nvPr>
        </p:nvGraphicFramePr>
        <p:xfrm>
          <a:off x="776699" y="2893459"/>
          <a:ext cx="4411304" cy="1754529"/>
        </p:xfrm>
        <a:graphic>
          <a:graphicData uri="http://schemas.openxmlformats.org/drawingml/2006/table">
            <a:tbl>
              <a:tblPr firstRow="1" firstCol="1" bandRow="1"/>
              <a:tblGrid>
                <a:gridCol w="864038">
                  <a:extLst>
                    <a:ext uri="{9D8B030D-6E8A-4147-A177-3AD203B41FA5}">
                      <a16:colId xmlns:a16="http://schemas.microsoft.com/office/drawing/2014/main" val="952108041"/>
                    </a:ext>
                  </a:extLst>
                </a:gridCol>
                <a:gridCol w="1042605">
                  <a:extLst>
                    <a:ext uri="{9D8B030D-6E8A-4147-A177-3AD203B41FA5}">
                      <a16:colId xmlns:a16="http://schemas.microsoft.com/office/drawing/2014/main" val="3010319404"/>
                    </a:ext>
                  </a:extLst>
                </a:gridCol>
                <a:gridCol w="1282344">
                  <a:extLst>
                    <a:ext uri="{9D8B030D-6E8A-4147-A177-3AD203B41FA5}">
                      <a16:colId xmlns:a16="http://schemas.microsoft.com/office/drawing/2014/main" val="123762244"/>
                    </a:ext>
                  </a:extLst>
                </a:gridCol>
                <a:gridCol w="1222317">
                  <a:extLst>
                    <a:ext uri="{9D8B030D-6E8A-4147-A177-3AD203B41FA5}">
                      <a16:colId xmlns:a16="http://schemas.microsoft.com/office/drawing/2014/main" val="1665033944"/>
                    </a:ext>
                  </a:extLst>
                </a:gridCol>
              </a:tblGrid>
              <a:tr h="518669">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Selectivity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NormalScan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IndexScan</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BTree</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p>
                      <a:pPr marL="0" marR="0" algn="ctr">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usec</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IndexScan(Sort) (usec)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3403144"/>
                  </a:ext>
                </a:extLst>
              </a:tr>
              <a:tr h="247172">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0.1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9390821"/>
                  </a:ext>
                </a:extLst>
              </a:tr>
              <a:tr h="247172">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150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258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363904"/>
                  </a:ext>
                </a:extLst>
              </a:tr>
              <a:tr h="247172">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399</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938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158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6625868"/>
                  </a:ext>
                </a:extLst>
              </a:tr>
              <a:tr h="247172">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463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1823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385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8634029"/>
                  </a:ext>
                </a:extLst>
              </a:tr>
              <a:tr h="247172">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922</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3662</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1704</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070086"/>
                  </a:ext>
                </a:extLst>
              </a:tr>
            </a:tbl>
          </a:graphicData>
        </a:graphic>
      </p:graphicFrame>
    </p:spTree>
    <p:extLst>
      <p:ext uri="{BB962C8B-B14F-4D97-AF65-F5344CB8AC3E}">
        <p14:creationId xmlns:p14="http://schemas.microsoft.com/office/powerpoint/2010/main" val="3649733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08FF9-E2BF-41E6-91B3-5D8C5D0190B8}"/>
              </a:ext>
            </a:extLst>
          </p:cNvPr>
          <p:cNvSpPr>
            <a:spLocks noGrp="1"/>
          </p:cNvSpPr>
          <p:nvPr>
            <p:ph type="title"/>
          </p:nvPr>
        </p:nvSpPr>
        <p:spPr>
          <a:xfrm>
            <a:off x="838200" y="139014"/>
            <a:ext cx="10515600" cy="719115"/>
          </a:xfrm>
        </p:spPr>
        <p:txBody>
          <a:bodyPr>
            <a:normAutofit/>
          </a:bodyPr>
          <a:lstStyle/>
          <a:p>
            <a:pPr algn="ctr"/>
            <a:r>
              <a:rPr lang="en-US" sz="3600" dirty="0">
                <a:latin typeface="Times New Roman" panose="02020603050405020304" pitchFamily="18" charset="0"/>
                <a:cs typeface="Times New Roman" panose="02020603050405020304" pitchFamily="18" charset="0"/>
              </a:rPr>
              <a:t>Joins</a:t>
            </a:r>
          </a:p>
        </p:txBody>
      </p:sp>
      <p:sp>
        <p:nvSpPr>
          <p:cNvPr id="5" name="Content Placeholder 4">
            <a:extLst>
              <a:ext uri="{FF2B5EF4-FFF2-40B4-BE49-F238E27FC236}">
                <a16:creationId xmlns:a16="http://schemas.microsoft.com/office/drawing/2014/main" id="{1C2D010F-BAA6-4D0D-8FE9-51DD2E1DC0E7}"/>
              </a:ext>
            </a:extLst>
          </p:cNvPr>
          <p:cNvSpPr>
            <a:spLocks noGrp="1"/>
          </p:cNvSpPr>
          <p:nvPr>
            <p:ph idx="1"/>
          </p:nvPr>
        </p:nvSpPr>
        <p:spPr>
          <a:xfrm>
            <a:off x="590843" y="858129"/>
            <a:ext cx="11352628" cy="5318834"/>
          </a:xfrm>
        </p:spPr>
        <p:txBody>
          <a:bodyPr>
            <a:normAutofit/>
          </a:bodyPr>
          <a:lstStyle/>
          <a:p>
            <a:r>
              <a:rPr lang="en-US" sz="2400" dirty="0">
                <a:latin typeface="Times New Roman" panose="02020603050405020304" pitchFamily="18" charset="0"/>
                <a:cs typeface="Times New Roman" panose="02020603050405020304" pitchFamily="18" charset="0"/>
              </a:rPr>
              <a:t>Different join algorithms were tried</a:t>
            </a:r>
          </a:p>
          <a:p>
            <a:pPr lvl="1"/>
            <a:r>
              <a:rPr lang="en-US" dirty="0">
                <a:latin typeface="Times New Roman" panose="02020603050405020304" pitchFamily="18" charset="0"/>
                <a:cs typeface="Times New Roman" panose="02020603050405020304" pitchFamily="18" charset="0"/>
              </a:rPr>
              <a:t>Nested Loop</a:t>
            </a:r>
          </a:p>
          <a:p>
            <a:pPr lvl="1"/>
            <a:r>
              <a:rPr lang="en-US" dirty="0">
                <a:latin typeface="Times New Roman" panose="02020603050405020304" pitchFamily="18" charset="0"/>
                <a:cs typeface="Times New Roman" panose="02020603050405020304" pitchFamily="18" charset="0"/>
              </a:rPr>
              <a:t>Hash Join</a:t>
            </a:r>
          </a:p>
          <a:p>
            <a:pPr lvl="1"/>
            <a:r>
              <a:rPr lang="en-US" dirty="0">
                <a:latin typeface="Times New Roman" panose="02020603050405020304" pitchFamily="18" charset="0"/>
                <a:cs typeface="Times New Roman" panose="02020603050405020304" pitchFamily="18" charset="0"/>
              </a:rPr>
              <a:t>Sort merge</a:t>
            </a:r>
          </a:p>
          <a:p>
            <a:pPr lvl="1"/>
            <a:r>
              <a:rPr lang="en-US" dirty="0">
                <a:latin typeface="Times New Roman" panose="02020603050405020304" pitchFamily="18" charset="0"/>
                <a:cs typeface="Times New Roman" panose="02020603050405020304" pitchFamily="18" charset="0"/>
              </a:rPr>
              <a:t>Grace Hash Join</a:t>
            </a:r>
          </a:p>
          <a:p>
            <a:r>
              <a:rPr lang="en-US" sz="2400" dirty="0">
                <a:latin typeface="Times New Roman" panose="02020603050405020304" pitchFamily="18" charset="0"/>
                <a:cs typeface="Times New Roman" panose="02020603050405020304" pitchFamily="18" charset="0"/>
              </a:rPr>
              <a:t>Comparison of different join methods</a:t>
            </a:r>
          </a:p>
        </p:txBody>
      </p:sp>
      <p:graphicFrame>
        <p:nvGraphicFramePr>
          <p:cNvPr id="3" name="Chart 2">
            <a:extLst>
              <a:ext uri="{FF2B5EF4-FFF2-40B4-BE49-F238E27FC236}">
                <a16:creationId xmlns:a16="http://schemas.microsoft.com/office/drawing/2014/main" id="{9D2F5A50-0472-4C50-BF98-B1955F32946F}"/>
              </a:ext>
            </a:extLst>
          </p:cNvPr>
          <p:cNvGraphicFramePr/>
          <p:nvPr>
            <p:extLst>
              <p:ext uri="{D42A27DB-BD31-4B8C-83A1-F6EECF244321}">
                <p14:modId xmlns:p14="http://schemas.microsoft.com/office/powerpoint/2010/main" val="4263835945"/>
              </p:ext>
            </p:extLst>
          </p:nvPr>
        </p:nvGraphicFramePr>
        <p:xfrm>
          <a:off x="6428935" y="3573194"/>
          <a:ext cx="5059681" cy="26037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a:extLst>
              <a:ext uri="{FF2B5EF4-FFF2-40B4-BE49-F238E27FC236}">
                <a16:creationId xmlns:a16="http://schemas.microsoft.com/office/drawing/2014/main" id="{3B7F2855-4196-44C2-9D11-33177585C7E7}"/>
              </a:ext>
            </a:extLst>
          </p:cNvPr>
          <p:cNvGraphicFramePr>
            <a:graphicFrameLocks noGrp="1"/>
          </p:cNvGraphicFramePr>
          <p:nvPr>
            <p:extLst>
              <p:ext uri="{D42A27DB-BD31-4B8C-83A1-F6EECF244321}">
                <p14:modId xmlns:p14="http://schemas.microsoft.com/office/powerpoint/2010/main" val="1578479864"/>
              </p:ext>
            </p:extLst>
          </p:nvPr>
        </p:nvGraphicFramePr>
        <p:xfrm>
          <a:off x="1097281" y="4012075"/>
          <a:ext cx="4417256" cy="1685340"/>
        </p:xfrm>
        <a:graphic>
          <a:graphicData uri="http://schemas.openxmlformats.org/drawingml/2006/table">
            <a:tbl>
              <a:tblPr firstRow="1" firstCol="1" bandRow="1"/>
              <a:tblGrid>
                <a:gridCol w="868231">
                  <a:extLst>
                    <a:ext uri="{9D8B030D-6E8A-4147-A177-3AD203B41FA5}">
                      <a16:colId xmlns:a16="http://schemas.microsoft.com/office/drawing/2014/main" val="2479475784"/>
                    </a:ext>
                  </a:extLst>
                </a:gridCol>
                <a:gridCol w="1308227">
                  <a:extLst>
                    <a:ext uri="{9D8B030D-6E8A-4147-A177-3AD203B41FA5}">
                      <a16:colId xmlns:a16="http://schemas.microsoft.com/office/drawing/2014/main" val="1231623025"/>
                    </a:ext>
                  </a:extLst>
                </a:gridCol>
                <a:gridCol w="1120053">
                  <a:extLst>
                    <a:ext uri="{9D8B030D-6E8A-4147-A177-3AD203B41FA5}">
                      <a16:colId xmlns:a16="http://schemas.microsoft.com/office/drawing/2014/main" val="549490470"/>
                    </a:ext>
                  </a:extLst>
                </a:gridCol>
                <a:gridCol w="1120745">
                  <a:extLst>
                    <a:ext uri="{9D8B030D-6E8A-4147-A177-3AD203B41FA5}">
                      <a16:colId xmlns:a16="http://schemas.microsoft.com/office/drawing/2014/main" val="4016589839"/>
                    </a:ext>
                  </a:extLst>
                </a:gridCol>
              </a:tblGrid>
              <a:tr h="399744">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%of tuples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NestedLoop(msec)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Hashjoin(msec)</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Sortmerge</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r>
                        <a:rPr lang="en-US" sz="1100" dirty="0" err="1">
                          <a:effectLst/>
                          <a:latin typeface="Times New Roman" panose="02020603050405020304" pitchFamily="18" charset="0"/>
                          <a:ea typeface="SimSun" panose="02010600030101010101" pitchFamily="2" charset="-122"/>
                          <a:cs typeface="Times New Roman" panose="02020603050405020304" pitchFamily="18" charset="0"/>
                        </a:rPr>
                        <a:t>msec</a:t>
                      </a: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5406519"/>
                  </a:ext>
                </a:extLst>
              </a:tr>
              <a:tr h="321399">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0.5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10947</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70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4</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8359971"/>
                  </a:ext>
                </a:extLst>
              </a:tr>
              <a:tr h="321399">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21296</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88</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3328944"/>
                  </a:ext>
                </a:extLst>
              </a:tr>
              <a:tr h="321399">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5</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107237</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373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6463138"/>
                  </a:ext>
                </a:extLst>
              </a:tr>
              <a:tr h="321399">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10</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212774</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a:effectLst/>
                          <a:latin typeface="Times New Roman" panose="02020603050405020304" pitchFamily="18" charset="0"/>
                          <a:ea typeface="SimSun" panose="02010600030101010101" pitchFamily="2" charset="-122"/>
                          <a:cs typeface="Times New Roman" panose="02020603050405020304" pitchFamily="18" charset="0"/>
                        </a:rPr>
                        <a:t>493</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100" dirty="0">
                          <a:effectLst/>
                          <a:latin typeface="Times New Roman" panose="02020603050405020304" pitchFamily="18" charset="0"/>
                          <a:ea typeface="SimSun" panose="02010600030101010101" pitchFamily="2" charset="-122"/>
                          <a:cs typeface="Times New Roman" panose="02020603050405020304" pitchFamily="18" charset="0"/>
                        </a:rPr>
                        <a:t>4</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9101016"/>
                  </a:ext>
                </a:extLst>
              </a:tr>
            </a:tbl>
          </a:graphicData>
        </a:graphic>
      </p:graphicFrame>
    </p:spTree>
    <p:extLst>
      <p:ext uri="{BB962C8B-B14F-4D97-AF65-F5344CB8AC3E}">
        <p14:creationId xmlns:p14="http://schemas.microsoft.com/office/powerpoint/2010/main" val="3984835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9B740-2617-42D0-8780-E7DF4FCA4BBD}"/>
              </a:ext>
            </a:extLst>
          </p:cNvPr>
          <p:cNvSpPr>
            <a:spLocks noGrp="1"/>
          </p:cNvSpPr>
          <p:nvPr>
            <p:ph type="title"/>
          </p:nvPr>
        </p:nvSpPr>
        <p:spPr>
          <a:xfrm>
            <a:off x="838200" y="365125"/>
            <a:ext cx="10515600" cy="619613"/>
          </a:xfrm>
        </p:spPr>
        <p:txBody>
          <a:bodyPr>
            <a:normAutofit/>
          </a:bodyPr>
          <a:lstStyle/>
          <a:p>
            <a:pPr algn="ctr"/>
            <a:r>
              <a:rPr lang="en-US" sz="3600" dirty="0">
                <a:latin typeface="Times New Roman" panose="02020603050405020304" pitchFamily="18" charset="0"/>
                <a:cs typeface="Times New Roman" panose="02020603050405020304" pitchFamily="18" charset="0"/>
              </a:rPr>
              <a:t>Insert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9446D0-7661-4BEB-929F-6C9ECEAEB847}"/>
                  </a:ext>
                </a:extLst>
              </p:cNvPr>
              <p:cNvSpPr>
                <a:spLocks noGrp="1"/>
              </p:cNvSpPr>
              <p:nvPr>
                <p:ph idx="1"/>
              </p:nvPr>
            </p:nvSpPr>
            <p:spPr>
              <a:xfrm>
                <a:off x="1063283" y="1253330"/>
                <a:ext cx="10515600" cy="4781709"/>
              </a:xfrm>
            </p:spPr>
            <p:txBody>
              <a:bodyPr>
                <a:normAutofit/>
              </a:bodyPr>
              <a:lstStyle/>
              <a:p>
                <a:r>
                  <a:rPr lang="en-US" sz="2000" dirty="0">
                    <a:latin typeface="Times New Roman" panose="02020603050405020304" pitchFamily="18" charset="0"/>
                    <a:cs typeface="Times New Roman" panose="02020603050405020304" pitchFamily="18" charset="0"/>
                  </a:rPr>
                  <a:t>For table without indexes, insert operator just inserts the new data at the end of each column data array</a:t>
                </a:r>
              </a:p>
              <a:p>
                <a:r>
                  <a:rPr lang="en-US" sz="2000" dirty="0">
                    <a:latin typeface="Times New Roman" panose="02020603050405020304" pitchFamily="18" charset="0"/>
                    <a:cs typeface="Times New Roman" panose="02020603050405020304" pitchFamily="18" charset="0"/>
                  </a:rPr>
                  <a:t>For table with clustered B-Tree:</a:t>
                </a:r>
              </a:p>
              <a:p>
                <a:pPr lvl="1"/>
                <a:r>
                  <a:rPr lang="en-US" sz="2000" dirty="0">
                    <a:latin typeface="Times New Roman" panose="02020603050405020304" pitchFamily="18" charset="0"/>
                    <a:cs typeface="Times New Roman" panose="02020603050405020304" pitchFamily="18" charset="0"/>
                  </a:rPr>
                  <a:t>Identify the column that has the index and traverse the B-Tree to identify the right leaf node</a:t>
                </a:r>
              </a:p>
              <a:p>
                <a:pPr lvl="1"/>
                <a:r>
                  <a:rPr lang="en-US" sz="2000" dirty="0">
                    <a:latin typeface="Times New Roman" panose="02020603050405020304" pitchFamily="18" charset="0"/>
                    <a:cs typeface="Times New Roman" panose="02020603050405020304" pitchFamily="18" charset="0"/>
                  </a:rPr>
                  <a:t>Identify the position to insert in the leaf node. </a:t>
                </a:r>
              </a:p>
              <a:p>
                <a:pPr lvl="1"/>
                <a:r>
                  <a:rPr lang="en-US" sz="2000" dirty="0">
                    <a:latin typeface="Times New Roman" panose="02020603050405020304" pitchFamily="18" charset="0"/>
                    <a:cs typeface="Times New Roman" panose="02020603050405020304" pitchFamily="18" charset="0"/>
                  </a:rPr>
                  <a:t>Get the position id for the previous key in the leaf and increment the value to get the correct position id for the new key.</a:t>
                </a:r>
              </a:p>
              <a:p>
                <a:pPr lvl="1"/>
                <a:r>
                  <a:rPr lang="en-US" sz="2000" dirty="0">
                    <a:latin typeface="Times New Roman" panose="02020603050405020304" pitchFamily="18" charset="0"/>
                    <a:cs typeface="Times New Roman" panose="02020603050405020304" pitchFamily="18" charset="0"/>
                  </a:rPr>
                  <a:t>Return the position id to use it to update the base data.</a:t>
                </a:r>
              </a:p>
              <a:p>
                <a:pPr lvl="1"/>
                <a:r>
                  <a:rPr lang="en-US" sz="2000" dirty="0">
                    <a:latin typeface="Times New Roman" panose="02020603050405020304" pitchFamily="18" charset="0"/>
                    <a:cs typeface="Times New Roman" panose="02020603050405020304" pitchFamily="18" charset="0"/>
                  </a:rPr>
                  <a:t>Loop through each column data from the position id and move the rest of data by 1.</a:t>
                </a:r>
              </a:p>
              <a:p>
                <a:pPr lvl="1"/>
                <a:r>
                  <a:rPr lang="en-US" sz="2000" dirty="0">
                    <a:latin typeface="Times New Roman" panose="02020603050405020304" pitchFamily="18" charset="0"/>
                    <a:cs typeface="Times New Roman" panose="02020603050405020304" pitchFamily="18" charset="0"/>
                  </a:rPr>
                  <a:t>If there is an </a:t>
                </a:r>
                <a:r>
                  <a:rPr lang="en-US" sz="2000" dirty="0" err="1">
                    <a:latin typeface="Times New Roman" panose="02020603050405020304" pitchFamily="18" charset="0"/>
                    <a:cs typeface="Times New Roman" panose="02020603050405020304" pitchFamily="18" charset="0"/>
                  </a:rPr>
                  <a:t>unclustered</a:t>
                </a:r>
                <a:r>
                  <a:rPr lang="en-US" sz="2000" dirty="0">
                    <a:latin typeface="Times New Roman" panose="02020603050405020304" pitchFamily="18" charset="0"/>
                    <a:cs typeface="Times New Roman" panose="02020603050405020304" pitchFamily="18" charset="0"/>
                  </a:rPr>
                  <a:t> index on the column insert into the copy of the data accordingly.</a:t>
                </a:r>
              </a:p>
              <a:p>
                <a:r>
                  <a:rPr lang="en-US" sz="2000" dirty="0">
                    <a:latin typeface="Times New Roman" panose="02020603050405020304" pitchFamily="18" charset="0"/>
                    <a:cs typeface="Times New Roman" panose="02020603050405020304" pitchFamily="18" charset="0"/>
                  </a:rPr>
                  <a:t>Cost of one insert is  </a:t>
                </a:r>
                <a14:m>
                  <m:oMath xmlns:m="http://schemas.openxmlformats.org/officeDocument/2006/math">
                    <m:r>
                      <a:rPr lang="en-US" sz="2000" i="1">
                        <a:latin typeface="Cambria Math" panose="02040503050406030204" pitchFamily="18" charset="0"/>
                      </a:rPr>
                      <m:t>𝑂</m:t>
                    </m:r>
                    <m:r>
                      <a:rPr lang="en-US" sz="2000" i="1">
                        <a:latin typeface="Cambria Math" panose="02040503050406030204" pitchFamily="18" charset="0"/>
                      </a:rPr>
                      <m:t>(</m:t>
                    </m:r>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log</m:t>
                            </m:r>
                          </m:e>
                          <m:sub>
                            <m:r>
                              <a:rPr lang="en-US" sz="2000" i="1">
                                <a:latin typeface="Cambria Math" panose="02040503050406030204" pitchFamily="18" charset="0"/>
                              </a:rPr>
                              <m:t>𝐹𝑎𝑛𝑜𝑢𝑡</m:t>
                            </m:r>
                          </m:sub>
                        </m:sSub>
                      </m:fName>
                      <m:e>
                        <m:r>
                          <a:rPr lang="en-US" sz="2000" i="1">
                            <a:latin typeface="Cambria Math" panose="02040503050406030204" pitchFamily="18" charset="0"/>
                          </a:rPr>
                          <m:t>𝑁</m:t>
                        </m:r>
                        <m:r>
                          <a:rPr lang="en-US" sz="2000" i="1">
                            <a:latin typeface="Cambria Math" panose="02040503050406030204" pitchFamily="18" charset="0"/>
                          </a:rPr>
                          <m:t>+2</m:t>
                        </m:r>
                        <m:r>
                          <a:rPr lang="en-US" sz="2000" i="1">
                            <a:latin typeface="Cambria Math" panose="02040503050406030204" pitchFamily="18" charset="0"/>
                          </a:rPr>
                          <m:t>𝑁</m:t>
                        </m:r>
                        <m:r>
                          <a:rPr lang="en-US" sz="2000" i="1">
                            <a:latin typeface="Cambria Math" panose="02040503050406030204" pitchFamily="18" charset="0"/>
                          </a:rPr>
                          <m:t>)</m:t>
                        </m:r>
                      </m:e>
                    </m:func>
                  </m:oMath>
                </a14:m>
                <a:r>
                  <a:rPr lang="en-US" sz="2000" dirty="0">
                    <a:latin typeface="Times New Roman" panose="02020603050405020304" pitchFamily="18" charset="0"/>
                    <a:cs typeface="Times New Roman" panose="02020603050405020304" pitchFamily="18" charset="0"/>
                  </a:rPr>
                  <a:t>. First term to insert the data to index and then second term to update the position ids in the leaf nodes and to move the base data. For other columns, it is </a:t>
                </a:r>
                <a14:m>
                  <m:oMath xmlns:m="http://schemas.openxmlformats.org/officeDocument/2006/math">
                    <m:r>
                      <a:rPr lang="en-US" sz="2000" i="1">
                        <a:latin typeface="Cambria Math" panose="02040503050406030204" pitchFamily="18" charset="0"/>
                      </a:rPr>
                      <m:t>𝑂</m:t>
                    </m:r>
                    <m:d>
                      <m:dPr>
                        <m:ctrlPr>
                          <a:rPr lang="en-US" sz="2000" i="1">
                            <a:latin typeface="Cambria Math" panose="02040503050406030204" pitchFamily="18" charset="0"/>
                          </a:rPr>
                        </m:ctrlPr>
                      </m:dPr>
                      <m:e>
                        <m:r>
                          <a:rPr lang="en-US" sz="2000" i="1">
                            <a:latin typeface="Cambria Math" panose="02040503050406030204" pitchFamily="18" charset="0"/>
                          </a:rPr>
                          <m:t>𝑁</m:t>
                        </m:r>
                      </m:e>
                    </m:d>
                    <m:r>
                      <a:rPr lang="en-US" sz="2000" i="1">
                        <a:latin typeface="Cambria Math" panose="02040503050406030204" pitchFamily="18" charset="0"/>
                      </a:rPr>
                      <m:t>.</m:t>
                    </m:r>
                  </m:oMath>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Similar procedure for table with clustered sort.</a:t>
                </a:r>
              </a:p>
            </p:txBody>
          </p:sp>
        </mc:Choice>
        <mc:Fallback xmlns="">
          <p:sp>
            <p:nvSpPr>
              <p:cNvPr id="3" name="Content Placeholder 2">
                <a:extLst>
                  <a:ext uri="{FF2B5EF4-FFF2-40B4-BE49-F238E27FC236}">
                    <a16:creationId xmlns:a16="http://schemas.microsoft.com/office/drawing/2014/main" id="{149446D0-7661-4BEB-929F-6C9ECEAEB847}"/>
                  </a:ext>
                </a:extLst>
              </p:cNvPr>
              <p:cNvSpPr>
                <a:spLocks noGrp="1" noRot="1" noChangeAspect="1" noMove="1" noResize="1" noEditPoints="1" noAdjustHandles="1" noChangeArrowheads="1" noChangeShapeType="1" noTextEdit="1"/>
              </p:cNvSpPr>
              <p:nvPr>
                <p:ph idx="1"/>
              </p:nvPr>
            </p:nvSpPr>
            <p:spPr>
              <a:xfrm>
                <a:off x="1063283" y="1253330"/>
                <a:ext cx="10515600" cy="4781709"/>
              </a:xfrm>
              <a:blipFill>
                <a:blip r:embed="rId2"/>
                <a:stretch>
                  <a:fillRect l="-522" t="-1403" r="-116" b="-510"/>
                </a:stretch>
              </a:blipFill>
            </p:spPr>
            <p:txBody>
              <a:bodyPr/>
              <a:lstStyle/>
              <a:p>
                <a:r>
                  <a:rPr lang="en-US">
                    <a:noFill/>
                  </a:rPr>
                  <a:t> </a:t>
                </a:r>
              </a:p>
            </p:txBody>
          </p:sp>
        </mc:Fallback>
      </mc:AlternateContent>
    </p:spTree>
    <p:extLst>
      <p:ext uri="{BB962C8B-B14F-4D97-AF65-F5344CB8AC3E}">
        <p14:creationId xmlns:p14="http://schemas.microsoft.com/office/powerpoint/2010/main" val="205305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37A6-BC7D-4B85-BFDD-23FFFBD806F4}"/>
              </a:ext>
            </a:extLst>
          </p:cNvPr>
          <p:cNvSpPr>
            <a:spLocks noGrp="1"/>
          </p:cNvSpPr>
          <p:nvPr>
            <p:ph type="title"/>
          </p:nvPr>
        </p:nvSpPr>
        <p:spPr>
          <a:xfrm>
            <a:off x="838200" y="365125"/>
            <a:ext cx="9867314" cy="732155"/>
          </a:xfrm>
        </p:spPr>
        <p:txBody>
          <a:bodyPr>
            <a:normAutofit/>
          </a:bodyPr>
          <a:lstStyle/>
          <a:p>
            <a:pPr algn="ctr"/>
            <a:r>
              <a:rPr lang="en-US" sz="3600" dirty="0">
                <a:latin typeface="Times New Roman" panose="02020603050405020304" pitchFamily="18" charset="0"/>
                <a:cs typeface="Times New Roman" panose="02020603050405020304" pitchFamily="18" charset="0"/>
              </a:rPr>
              <a:t>Delete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11166-CF6F-47C0-97B9-5CD1E6BDFF48}"/>
                  </a:ext>
                </a:extLst>
              </p:cNvPr>
              <p:cNvSpPr>
                <a:spLocks noGrp="1"/>
              </p:cNvSpPr>
              <p:nvPr>
                <p:ph idx="1"/>
              </p:nvPr>
            </p:nvSpPr>
            <p:spPr>
              <a:xfrm>
                <a:off x="838200" y="1294228"/>
                <a:ext cx="10515600" cy="5198647"/>
              </a:xfrm>
            </p:spPr>
            <p:txBody>
              <a:bodyPr>
                <a:normAutofit fontScale="70000" lnSpcReduction="20000"/>
              </a:bodyPr>
              <a:lstStyle/>
              <a:p>
                <a:r>
                  <a:rPr lang="en-US" sz="3200" dirty="0">
                    <a:latin typeface="Times New Roman" panose="02020603050405020304" pitchFamily="18" charset="0"/>
                    <a:cs typeface="Times New Roman" panose="02020603050405020304" pitchFamily="18" charset="0"/>
                  </a:rPr>
                  <a:t>Table with no indexes:</a:t>
                </a:r>
              </a:p>
              <a:p>
                <a:pPr lvl="1"/>
                <a:r>
                  <a:rPr lang="en-US" sz="3200" dirty="0">
                    <a:latin typeface="Times New Roman" panose="02020603050405020304" pitchFamily="18" charset="0"/>
                    <a:cs typeface="Times New Roman" panose="02020603050405020304" pitchFamily="18" charset="0"/>
                  </a:rPr>
                  <a:t>Maintain a count.</a:t>
                </a:r>
              </a:p>
              <a:p>
                <a:pPr lvl="1"/>
                <a:r>
                  <a:rPr lang="en-US" sz="3200" dirty="0">
                    <a:latin typeface="Times New Roman" panose="02020603050405020304" pitchFamily="18" charset="0"/>
                    <a:cs typeface="Times New Roman" panose="02020603050405020304" pitchFamily="18" charset="0"/>
                  </a:rPr>
                  <a:t>Loop through the data array and when index matches the position id that needs to be deleted, increment the count </a:t>
                </a:r>
              </a:p>
              <a:p>
                <a:pPr lvl="1"/>
                <a:r>
                  <a:rPr lang="en-US" sz="3200" dirty="0">
                    <a:latin typeface="Times New Roman" panose="02020603050405020304" pitchFamily="18" charset="0"/>
                    <a:cs typeface="Times New Roman" panose="02020603050405020304" pitchFamily="18" charset="0"/>
                  </a:rPr>
                  <a:t>move the data that follows by the count amount. </a:t>
                </a:r>
              </a:p>
              <a:p>
                <a:r>
                  <a:rPr lang="en-US" sz="3200" dirty="0">
                    <a:latin typeface="Times New Roman" panose="02020603050405020304" pitchFamily="18" charset="0"/>
                    <a:cs typeface="Times New Roman" panose="02020603050405020304" pitchFamily="18" charset="0"/>
                  </a:rPr>
                  <a:t>Cost of this step is  </a:t>
                </a:r>
                <a14:m>
                  <m:oMath xmlns:m="http://schemas.openxmlformats.org/officeDocument/2006/math">
                    <m:r>
                      <a:rPr lang="en-US" sz="3200" i="1">
                        <a:latin typeface="Cambria Math" panose="02040503050406030204" pitchFamily="18" charset="0"/>
                      </a:rPr>
                      <m:t>𝑂</m:t>
                    </m:r>
                    <m:d>
                      <m:dPr>
                        <m:ctrlPr>
                          <a:rPr lang="en-US" sz="3200" i="1">
                            <a:latin typeface="Cambria Math" panose="02040503050406030204" pitchFamily="18" charset="0"/>
                          </a:rPr>
                        </m:ctrlPr>
                      </m:dPr>
                      <m:e>
                        <m:r>
                          <a:rPr lang="en-US" sz="3200" i="1">
                            <a:latin typeface="Cambria Math" panose="02040503050406030204" pitchFamily="18" charset="0"/>
                          </a:rPr>
                          <m:t>𝑁</m:t>
                        </m:r>
                      </m:e>
                    </m:d>
                    <m:r>
                      <a:rPr lang="en-US" sz="3200" i="1">
                        <a:latin typeface="Cambria Math" panose="02040503050406030204" pitchFamily="18" charset="0"/>
                      </a:rPr>
                      <m:t>.</m:t>
                    </m:r>
                  </m:oMath>
                </a14:m>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Table with clustered B-Tree: </a:t>
                </a:r>
              </a:p>
              <a:p>
                <a:r>
                  <a:rPr lang="en-US" sz="3200" dirty="0">
                    <a:latin typeface="Times New Roman" panose="02020603050405020304" pitchFamily="18" charset="0"/>
                    <a:cs typeface="Times New Roman" panose="02020603050405020304" pitchFamily="18" charset="0"/>
                  </a:rPr>
                  <a:t>Delete is done in two steps. One on the index and next on base data.</a:t>
                </a:r>
              </a:p>
              <a:p>
                <a:pPr lvl="1"/>
                <a:r>
                  <a:rPr lang="en-US" sz="3200" dirty="0">
                    <a:latin typeface="Times New Roman" panose="02020603050405020304" pitchFamily="18" charset="0"/>
                    <a:cs typeface="Times New Roman" panose="02020603050405020304" pitchFamily="18" charset="0"/>
                  </a:rPr>
                  <a:t>Identify the data values for the position ids that need to be deleted. </a:t>
                </a:r>
              </a:p>
              <a:p>
                <a:pPr lvl="1"/>
                <a:r>
                  <a:rPr lang="en-US" sz="3200" dirty="0">
                    <a:latin typeface="Times New Roman" panose="02020603050405020304" pitchFamily="18" charset="0"/>
                    <a:cs typeface="Times New Roman" panose="02020603050405020304" pitchFamily="18" charset="0"/>
                  </a:rPr>
                  <a:t>Traverse the B-Tree to identify the leaf node with each of the data value as key.</a:t>
                </a:r>
              </a:p>
              <a:p>
                <a:pPr lvl="1"/>
                <a:r>
                  <a:rPr lang="en-US" sz="3200" dirty="0">
                    <a:latin typeface="Times New Roman" panose="02020603050405020304" pitchFamily="18" charset="0"/>
                    <a:cs typeface="Times New Roman" panose="02020603050405020304" pitchFamily="18" charset="0"/>
                  </a:rPr>
                  <a:t>Identify the key in the leaf node, delete the key and update the position ids of the leaf nodes that follow this key.</a:t>
                </a:r>
              </a:p>
              <a:p>
                <a:pPr lvl="1"/>
                <a:r>
                  <a:rPr lang="en-US" sz="3200" dirty="0">
                    <a:latin typeface="Times New Roman" panose="02020603050405020304" pitchFamily="18" charset="0"/>
                    <a:cs typeface="Times New Roman" panose="02020603050405020304" pitchFamily="18" charset="0"/>
                  </a:rPr>
                  <a:t>Then do the steps for base data similar to that done for table with no indexes. Change the </a:t>
                </a:r>
                <a:r>
                  <a:rPr lang="en-US" sz="3200" dirty="0" err="1">
                    <a:latin typeface="Times New Roman" panose="02020603050405020304" pitchFamily="18" charset="0"/>
                    <a:cs typeface="Times New Roman" panose="02020603050405020304" pitchFamily="18" charset="0"/>
                  </a:rPr>
                  <a:t>unclustered</a:t>
                </a:r>
                <a:r>
                  <a:rPr lang="en-US" sz="3200" dirty="0">
                    <a:latin typeface="Times New Roman" panose="02020603050405020304" pitchFamily="18" charset="0"/>
                    <a:cs typeface="Times New Roman" panose="02020603050405020304" pitchFamily="18" charset="0"/>
                  </a:rPr>
                  <a:t> index copies accordingly.</a:t>
                </a:r>
              </a:p>
              <a:p>
                <a:r>
                  <a:rPr lang="en-US" sz="3200" dirty="0">
                    <a:latin typeface="Times New Roman" panose="02020603050405020304" pitchFamily="18" charset="0"/>
                    <a:cs typeface="Times New Roman" panose="02020603050405020304" pitchFamily="18" charset="0"/>
                  </a:rPr>
                  <a:t>Cost is </a:t>
                </a:r>
                <a14:m>
                  <m:oMath xmlns:m="http://schemas.openxmlformats.org/officeDocument/2006/math">
                    <m:r>
                      <a:rPr lang="en-US" sz="2900" i="1">
                        <a:latin typeface="Cambria Math" panose="02040503050406030204" pitchFamily="18" charset="0"/>
                      </a:rPr>
                      <m:t>𝑂</m:t>
                    </m:r>
                    <m:d>
                      <m:dPr>
                        <m:ctrlPr>
                          <a:rPr lang="en-US" sz="2900" i="1">
                            <a:latin typeface="Cambria Math" panose="02040503050406030204" pitchFamily="18" charset="0"/>
                          </a:rPr>
                        </m:ctrlPr>
                      </m:dPr>
                      <m:e>
                        <m:r>
                          <a:rPr lang="en-US" sz="2900" i="1">
                            <a:latin typeface="Cambria Math" panose="02040503050406030204" pitchFamily="18" charset="0"/>
                          </a:rPr>
                          <m:t>𝑚</m:t>
                        </m:r>
                        <m:r>
                          <a:rPr lang="en-US" sz="2900" i="1">
                            <a:latin typeface="Cambria Math" panose="02040503050406030204" pitchFamily="18" charset="0"/>
                          </a:rPr>
                          <m:t>∗</m:t>
                        </m:r>
                        <m:func>
                          <m:funcPr>
                            <m:ctrlPr>
                              <a:rPr lang="en-US" sz="2900" i="1">
                                <a:latin typeface="Cambria Math" panose="02040503050406030204" pitchFamily="18" charset="0"/>
                              </a:rPr>
                            </m:ctrlPr>
                          </m:funcPr>
                          <m:fName>
                            <m:sSub>
                              <m:sSubPr>
                                <m:ctrlPr>
                                  <a:rPr lang="en-US" sz="2900" i="1">
                                    <a:latin typeface="Cambria Math" panose="02040503050406030204" pitchFamily="18" charset="0"/>
                                  </a:rPr>
                                </m:ctrlPr>
                              </m:sSubPr>
                              <m:e>
                                <m:r>
                                  <a:rPr lang="en-US" sz="2900">
                                    <a:latin typeface="Cambria Math" panose="02040503050406030204" pitchFamily="18" charset="0"/>
                                  </a:rPr>
                                  <m:t>(</m:t>
                                </m:r>
                                <m:r>
                                  <m:rPr>
                                    <m:sty m:val="p"/>
                                  </m:rPr>
                                  <a:rPr lang="en-US" sz="2900">
                                    <a:latin typeface="Cambria Math" panose="02040503050406030204" pitchFamily="18" charset="0"/>
                                  </a:rPr>
                                  <m:t>log</m:t>
                                </m:r>
                              </m:e>
                              <m:sub>
                                <m:r>
                                  <a:rPr lang="en-US" sz="2900" i="1">
                                    <a:latin typeface="Cambria Math" panose="02040503050406030204" pitchFamily="18" charset="0"/>
                                  </a:rPr>
                                  <m:t>𝐹𝑎𝑛𝑜𝑢𝑡</m:t>
                                </m:r>
                              </m:sub>
                            </m:sSub>
                          </m:fName>
                          <m:e>
                            <m:r>
                              <a:rPr lang="en-US" sz="2900" i="1">
                                <a:latin typeface="Cambria Math" panose="02040503050406030204" pitchFamily="18" charset="0"/>
                              </a:rPr>
                              <m:t>𝑁</m:t>
                            </m:r>
                          </m:e>
                        </m:func>
                        <m:r>
                          <a:rPr lang="en-US" sz="2900" i="1">
                            <a:latin typeface="Cambria Math" panose="02040503050406030204" pitchFamily="18" charset="0"/>
                          </a:rPr>
                          <m:t>+ </m:t>
                        </m:r>
                        <m:r>
                          <a:rPr lang="en-US" sz="2900" i="1">
                            <a:latin typeface="Cambria Math" panose="02040503050406030204" pitchFamily="18" charset="0"/>
                          </a:rPr>
                          <m:t>𝑁</m:t>
                        </m:r>
                      </m:e>
                    </m:d>
                    <m:r>
                      <a:rPr lang="en-US" sz="2900" i="1">
                        <a:latin typeface="Cambria Math" panose="02040503050406030204" pitchFamily="18" charset="0"/>
                      </a:rPr>
                      <m:t>+  </m:t>
                    </m:r>
                    <m:r>
                      <a:rPr lang="en-US" sz="2900" i="1">
                        <a:latin typeface="Cambria Math" panose="02040503050406030204" pitchFamily="18" charset="0"/>
                      </a:rPr>
                      <m:t>𝑁</m:t>
                    </m:r>
                    <m:r>
                      <a:rPr lang="en-US" sz="2900" i="1">
                        <a:latin typeface="Cambria Math" panose="02040503050406030204" pitchFamily="18" charset="0"/>
                      </a:rPr>
                      <m:t>)</m:t>
                    </m:r>
                  </m:oMath>
                </a14:m>
                <a:r>
                  <a:rPr lang="en-US" sz="29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where m is number of position ids that need to be deleted.</a:t>
                </a:r>
              </a:p>
              <a:p>
                <a:r>
                  <a:rPr lang="en-US" dirty="0">
                    <a:latin typeface="Times New Roman" panose="02020603050405020304" pitchFamily="18" charset="0"/>
                    <a:cs typeface="Times New Roman" panose="02020603050405020304" pitchFamily="18" charset="0"/>
                  </a:rPr>
                  <a:t>For Sort clustered use binary search to get the positions.</a:t>
                </a:r>
              </a:p>
            </p:txBody>
          </p:sp>
        </mc:Choice>
        <mc:Fallback xmlns="">
          <p:sp>
            <p:nvSpPr>
              <p:cNvPr id="3" name="Content Placeholder 2">
                <a:extLst>
                  <a:ext uri="{FF2B5EF4-FFF2-40B4-BE49-F238E27FC236}">
                    <a16:creationId xmlns:a16="http://schemas.microsoft.com/office/drawing/2014/main" id="{64C11166-CF6F-47C0-97B9-5CD1E6BDFF48}"/>
                  </a:ext>
                </a:extLst>
              </p:cNvPr>
              <p:cNvSpPr>
                <a:spLocks noGrp="1" noRot="1" noChangeAspect="1" noMove="1" noResize="1" noEditPoints="1" noAdjustHandles="1" noChangeArrowheads="1" noChangeShapeType="1" noTextEdit="1"/>
              </p:cNvSpPr>
              <p:nvPr>
                <p:ph idx="1"/>
              </p:nvPr>
            </p:nvSpPr>
            <p:spPr>
              <a:xfrm>
                <a:off x="838200" y="1294228"/>
                <a:ext cx="10515600" cy="5198647"/>
              </a:xfrm>
              <a:blipFill>
                <a:blip r:embed="rId2"/>
                <a:stretch>
                  <a:fillRect l="-696" t="-2462" r="-348" b="-1055"/>
                </a:stretch>
              </a:blipFill>
            </p:spPr>
            <p:txBody>
              <a:bodyPr/>
              <a:lstStyle/>
              <a:p>
                <a:r>
                  <a:rPr lang="en-US">
                    <a:noFill/>
                  </a:rPr>
                  <a:t> </a:t>
                </a:r>
              </a:p>
            </p:txBody>
          </p:sp>
        </mc:Fallback>
      </mc:AlternateContent>
    </p:spTree>
    <p:extLst>
      <p:ext uri="{BB962C8B-B14F-4D97-AF65-F5344CB8AC3E}">
        <p14:creationId xmlns:p14="http://schemas.microsoft.com/office/powerpoint/2010/main" val="1354427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A9049-B4D3-4FD1-A8A7-97A826F6C2C8}"/>
              </a:ext>
            </a:extLst>
          </p:cNvPr>
          <p:cNvSpPr>
            <a:spLocks noGrp="1"/>
          </p:cNvSpPr>
          <p:nvPr>
            <p:ph type="title"/>
          </p:nvPr>
        </p:nvSpPr>
        <p:spPr>
          <a:xfrm>
            <a:off x="838200" y="365126"/>
            <a:ext cx="10515600" cy="577410"/>
          </a:xfrm>
        </p:spPr>
        <p:txBody>
          <a:bodyPr>
            <a:noAutofit/>
          </a:bodyPr>
          <a:lstStyle/>
          <a:p>
            <a:pPr algn="ctr"/>
            <a:r>
              <a:rPr lang="en-US" sz="3600" dirty="0">
                <a:latin typeface="Times New Roman" panose="02020603050405020304" pitchFamily="18" charset="0"/>
                <a:cs typeface="Times New Roman" panose="02020603050405020304" pitchFamily="18" charset="0"/>
              </a:rPr>
              <a:t>Update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54C24A-4A6A-4ECC-A87D-E98FFD2E7590}"/>
                  </a:ext>
                </a:extLst>
              </p:cNvPr>
              <p:cNvSpPr>
                <a:spLocks noGrp="1"/>
              </p:cNvSpPr>
              <p:nvPr>
                <p:ph idx="1"/>
              </p:nvPr>
            </p:nvSpPr>
            <p:spPr>
              <a:xfrm>
                <a:off x="1111348" y="1083212"/>
                <a:ext cx="10242452" cy="5093751"/>
              </a:xfrm>
            </p:spPr>
            <p:txBody>
              <a:bodyPr>
                <a:normAutofit/>
              </a:bodyPr>
              <a:lstStyle/>
              <a:p>
                <a:r>
                  <a:rPr lang="en-US" sz="2000" dirty="0">
                    <a:latin typeface="Times New Roman" panose="02020603050405020304" pitchFamily="18" charset="0"/>
                    <a:cs typeface="Times New Roman" panose="02020603050405020304" pitchFamily="18" charset="0"/>
                  </a:rPr>
                  <a:t>For table with no indexes, update just changes the value at the position id. For tables with indexes it is slightly involved.</a:t>
                </a:r>
              </a:p>
              <a:p>
                <a:r>
                  <a:rPr lang="en-US" sz="2000" dirty="0">
                    <a:latin typeface="Times New Roman" panose="02020603050405020304" pitchFamily="18" charset="0"/>
                    <a:cs typeface="Times New Roman" panose="02020603050405020304" pitchFamily="18" charset="0"/>
                  </a:rPr>
                  <a:t>For table with clustered B-Tree Algorithm runs as follows :</a:t>
                </a:r>
              </a:p>
              <a:p>
                <a:r>
                  <a:rPr lang="en-US" sz="2000" dirty="0">
                    <a:latin typeface="Times New Roman" panose="02020603050405020304" pitchFamily="18" charset="0"/>
                    <a:cs typeface="Times New Roman" panose="02020603050405020304" pitchFamily="18" charset="0"/>
                  </a:rPr>
                  <a:t>For each position id that needs to be updated</a:t>
                </a:r>
              </a:p>
              <a:p>
                <a:pPr lvl="1"/>
                <a:r>
                  <a:rPr lang="en-US" sz="2000" dirty="0">
                    <a:latin typeface="Times New Roman" panose="02020603050405020304" pitchFamily="18" charset="0"/>
                    <a:cs typeface="Times New Roman" panose="02020603050405020304" pitchFamily="18" charset="0"/>
                  </a:rPr>
                  <a:t>First delete the value at the position id  from the B-Tree</a:t>
                </a:r>
              </a:p>
              <a:p>
                <a:pPr lvl="1"/>
                <a:r>
                  <a:rPr lang="en-US" sz="2000" dirty="0">
                    <a:latin typeface="Times New Roman" panose="02020603050405020304" pitchFamily="18" charset="0"/>
                    <a:cs typeface="Times New Roman" panose="02020603050405020304" pitchFamily="18" charset="0"/>
                  </a:rPr>
                  <a:t>Insert the new key and get the position id where the new key is inserted from the tree.</a:t>
                </a:r>
              </a:p>
              <a:p>
                <a:r>
                  <a:rPr lang="en-US" sz="2000" dirty="0">
                    <a:latin typeface="Times New Roman" panose="02020603050405020304" pitchFamily="18" charset="0"/>
                    <a:cs typeface="Times New Roman" panose="02020603050405020304" pitchFamily="18" charset="0"/>
                  </a:rPr>
                  <a:t>Once we obtain positions where the updated values go, update the base data as follows.</a:t>
                </a:r>
              </a:p>
              <a:p>
                <a:r>
                  <a:rPr lang="en-US" sz="2000" dirty="0">
                    <a:latin typeface="Times New Roman" panose="02020603050405020304" pitchFamily="18" charset="0"/>
                    <a:cs typeface="Times New Roman" panose="02020603050405020304" pitchFamily="18" charset="0"/>
                  </a:rPr>
                  <a:t>For each position id that needs to be updated</a:t>
                </a:r>
              </a:p>
              <a:p>
                <a:pPr lvl="1"/>
                <a:r>
                  <a:rPr lang="en-US" sz="2000" dirty="0">
                    <a:latin typeface="Times New Roman" panose="02020603050405020304" pitchFamily="18" charset="0"/>
                    <a:cs typeface="Times New Roman" panose="02020603050405020304" pitchFamily="18" charset="0"/>
                  </a:rPr>
                  <a:t>if it is greater than the position id returned from tree, then move data between the ids to the right one.</a:t>
                </a:r>
              </a:p>
              <a:p>
                <a:pPr lvl="1"/>
                <a:r>
                  <a:rPr lang="en-US" sz="2000" dirty="0">
                    <a:latin typeface="Times New Roman" panose="02020603050405020304" pitchFamily="18" charset="0"/>
                    <a:cs typeface="Times New Roman" panose="02020603050405020304" pitchFamily="18" charset="0"/>
                  </a:rPr>
                  <a:t>if it is less then move the data between the ids to the left by one</a:t>
                </a:r>
              </a:p>
              <a:p>
                <a:r>
                  <a:rPr lang="en-US" sz="2000" dirty="0">
                    <a:latin typeface="Times New Roman" panose="02020603050405020304" pitchFamily="18" charset="0"/>
                    <a:cs typeface="Times New Roman" panose="02020603050405020304" pitchFamily="18" charset="0"/>
                  </a:rPr>
                  <a:t>Cost of the update is </a:t>
                </a:r>
                <a14:m>
                  <m:oMath xmlns:m="http://schemas.openxmlformats.org/officeDocument/2006/math">
                    <m:r>
                      <a:rPr lang="en-US" sz="2400" i="1">
                        <a:latin typeface="Cambria Math" panose="02040503050406030204" pitchFamily="18" charset="0"/>
                      </a:rPr>
                      <m:t>𝑂</m:t>
                    </m:r>
                    <m:r>
                      <a:rPr lang="en-US" sz="2400" i="1">
                        <a:latin typeface="Cambria Math" panose="02040503050406030204" pitchFamily="18" charset="0"/>
                      </a:rPr>
                      <m:t>(</m:t>
                    </m:r>
                    <m:r>
                      <a:rPr lang="en-US" sz="2400" i="1">
                        <a:latin typeface="Cambria Math" panose="02040503050406030204" pitchFamily="18" charset="0"/>
                      </a:rPr>
                      <m:t>𝑚</m:t>
                    </m:r>
                    <m:r>
                      <a:rPr lang="en-US" sz="2400" i="1">
                        <a:latin typeface="Cambria Math" panose="02040503050406030204" pitchFamily="18" charset="0"/>
                      </a:rPr>
                      <m:t>∗(</m:t>
                    </m:r>
                    <m:func>
                      <m:funcPr>
                        <m:ctrlPr>
                          <a:rPr lang="en-US" sz="2400" i="1">
                            <a:latin typeface="Cambria Math" panose="02040503050406030204" pitchFamily="18" charset="0"/>
                          </a:rPr>
                        </m:ctrlPr>
                      </m:funcPr>
                      <m:fName>
                        <m:sSub>
                          <m:sSubPr>
                            <m:ctrlPr>
                              <a:rPr lang="en-US" sz="2400" i="1">
                                <a:latin typeface="Cambria Math" panose="02040503050406030204" pitchFamily="18" charset="0"/>
                              </a:rPr>
                            </m:ctrlPr>
                          </m:sSubPr>
                          <m:e>
                            <m:r>
                              <a:rPr lang="en-US" sz="2400">
                                <a:latin typeface="Cambria Math" panose="02040503050406030204" pitchFamily="18" charset="0"/>
                              </a:rPr>
                              <m:t>2</m:t>
                            </m:r>
                            <m:r>
                              <m:rPr>
                                <m:sty m:val="p"/>
                              </m:rPr>
                              <a:rPr lang="en-US" sz="2400">
                                <a:latin typeface="Cambria Math" panose="02040503050406030204" pitchFamily="18" charset="0"/>
                              </a:rPr>
                              <m:t>log</m:t>
                            </m:r>
                          </m:e>
                          <m:sub>
                            <m:r>
                              <a:rPr lang="en-US" sz="2400" i="1">
                                <a:latin typeface="Cambria Math" panose="02040503050406030204" pitchFamily="18" charset="0"/>
                              </a:rPr>
                              <m:t>𝐹𝑎𝑛𝑜𝑢𝑡</m:t>
                            </m:r>
                          </m:sub>
                        </m:sSub>
                      </m:fName>
                      <m:e>
                        <m:r>
                          <a:rPr lang="en-US" sz="2400" i="1" smtClean="0">
                            <a:latin typeface="Cambria Math" panose="02040503050406030204" pitchFamily="18" charset="0"/>
                          </a:rPr>
                          <m:t>𝑁</m:t>
                        </m:r>
                        <m:r>
                          <a:rPr lang="en-US" sz="2400" i="1" smtClean="0">
                            <a:latin typeface="Cambria Math" panose="02040503050406030204" pitchFamily="18" charset="0"/>
                          </a:rPr>
                          <m:t>+2</m:t>
                        </m:r>
                        <m:r>
                          <a:rPr lang="en-US" sz="2400" i="1" smtClean="0">
                            <a:latin typeface="Cambria Math" panose="02040503050406030204" pitchFamily="18" charset="0"/>
                          </a:rPr>
                          <m:t>𝑁</m:t>
                        </m:r>
                        <m:r>
                          <a:rPr lang="en-US" sz="2400" i="1" smtClean="0">
                            <a:latin typeface="Cambria Math" panose="02040503050406030204" pitchFamily="18" charset="0"/>
                          </a:rPr>
                          <m:t>))</m:t>
                        </m:r>
                      </m:e>
                    </m:func>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954C24A-4A6A-4ECC-A87D-E98FFD2E7590}"/>
                  </a:ext>
                </a:extLst>
              </p:cNvPr>
              <p:cNvSpPr>
                <a:spLocks noGrp="1" noRot="1" noChangeAspect="1" noMove="1" noResize="1" noEditPoints="1" noAdjustHandles="1" noChangeArrowheads="1" noChangeShapeType="1" noTextEdit="1"/>
              </p:cNvSpPr>
              <p:nvPr>
                <p:ph idx="1"/>
              </p:nvPr>
            </p:nvSpPr>
            <p:spPr>
              <a:xfrm>
                <a:off x="1111348" y="1083212"/>
                <a:ext cx="10242452" cy="5093751"/>
              </a:xfrm>
              <a:blipFill>
                <a:blip r:embed="rId2"/>
                <a:stretch>
                  <a:fillRect l="-535" t="-1317"/>
                </a:stretch>
              </a:blipFill>
            </p:spPr>
            <p:txBody>
              <a:bodyPr/>
              <a:lstStyle/>
              <a:p>
                <a:r>
                  <a:rPr lang="en-US">
                    <a:noFill/>
                  </a:rPr>
                  <a:t> </a:t>
                </a:r>
              </a:p>
            </p:txBody>
          </p:sp>
        </mc:Fallback>
      </mc:AlternateContent>
    </p:spTree>
    <p:extLst>
      <p:ext uri="{BB962C8B-B14F-4D97-AF65-F5344CB8AC3E}">
        <p14:creationId xmlns:p14="http://schemas.microsoft.com/office/powerpoint/2010/main" val="3129617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11E04-8E1A-43B6-95CC-C2DB79F7A765}"/>
              </a:ext>
            </a:extLst>
          </p:cNvPr>
          <p:cNvSpPr>
            <a:spLocks noGrp="1"/>
          </p:cNvSpPr>
          <p:nvPr>
            <p:ph type="ctrTitle"/>
          </p:nvPr>
        </p:nvSpPr>
        <p:spPr/>
        <p:txBody>
          <a:bodyPr>
            <a:normAutofit/>
          </a:bodyPr>
          <a:lstStyle/>
          <a:p>
            <a:r>
              <a:rPr lang="en-US" sz="4000"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945931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792</TotalTime>
  <Words>1504</Words>
  <Application>Microsoft Office PowerPoint</Application>
  <PresentationFormat>Widescreen</PresentationFormat>
  <Paragraphs>274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SimSun</vt:lpstr>
      <vt:lpstr>Arial</vt:lpstr>
      <vt:lpstr>Calibri</vt:lpstr>
      <vt:lpstr>Calibri Light</vt:lpstr>
      <vt:lpstr>Cambria Math</vt:lpstr>
      <vt:lpstr>Times New Roman</vt:lpstr>
      <vt:lpstr>Office Theme</vt:lpstr>
      <vt:lpstr>Main Memory Column-store CS 165 (Data Systems)</vt:lpstr>
      <vt:lpstr>Storage Layout</vt:lpstr>
      <vt:lpstr>Architecture</vt:lpstr>
      <vt:lpstr>Variable Pool and Basic SQL Commands</vt:lpstr>
      <vt:lpstr>Metadata file for Database</vt:lpstr>
      <vt:lpstr>Data size vs Response Time</vt:lpstr>
      <vt:lpstr>Shared Scan</vt:lpstr>
      <vt:lpstr>Shared Scan(continued..)</vt:lpstr>
      <vt:lpstr>B-Tree and Sort Index</vt:lpstr>
      <vt:lpstr>B-Tree </vt:lpstr>
      <vt:lpstr>B-Tree Construction and Persistence </vt:lpstr>
      <vt:lpstr>Select</vt:lpstr>
      <vt:lpstr>Fetch</vt:lpstr>
      <vt:lpstr>Joins</vt:lpstr>
      <vt:lpstr>Insert</vt:lpstr>
      <vt:lpstr>Delete</vt:lpstr>
      <vt:lpstr>Update</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Memory Column-store CS 165 (Data Systems)</dc:title>
  <dc:creator>Pavan Kancherlapalli</dc:creator>
  <cp:lastModifiedBy>Pavan Kancherlapalli</cp:lastModifiedBy>
  <cp:revision>34</cp:revision>
  <dcterms:created xsi:type="dcterms:W3CDTF">2017-12-09T20:17:30Z</dcterms:created>
  <dcterms:modified xsi:type="dcterms:W3CDTF">2017-12-10T20:28:28Z</dcterms:modified>
</cp:coreProperties>
</file>